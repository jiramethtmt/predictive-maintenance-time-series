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3" d="100"/>
          <a:sy n="73" d="100"/>
        </p:scale>
        <p:origin x="380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iramethtmt/predictive-maintenance-time-series" TargetMode="External"/><Relationship Id="rId2" Type="http://schemas.openxmlformats.org/officeDocument/2006/relationships/hyperlink" Target="https://nbviewer.org/github/jiramethtmt/predictive-maintenance-time-series/blob/main/notebooks/01_eda_scania_component_x.ipynb" TargetMode="Externa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jiramethtmt/predictive-maintenance-time-series/blob/main/notebooks/01_eda_scania_component_x.ipynb" TargetMode="External"/><Relationship Id="rId4" Type="http://schemas.openxmlformats.org/officeDocument/2006/relationships/hyperlink" Target="https://doi.org/10.5878/jvb5-d390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7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05840" y="2103120"/>
            <a:ext cx="9692640" cy="22393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400"/>
              </a:spcAft>
            </a:pPr>
            <a:r>
              <a:rPr sz="1300" b="1" dirty="0">
                <a:solidFill>
                  <a:srgbClr val="1F7A6B"/>
                </a:solidFill>
                <a:latin typeface="Calibri"/>
              </a:rPr>
              <a:t>PREDICTIVE MAINTENANCE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000" b="1" dirty="0">
                <a:solidFill>
                  <a:srgbClr val="0B2545"/>
                </a:solidFill>
                <a:latin typeface="Calibri"/>
              </a:rPr>
              <a:t>Calling trucks in before the</a:t>
            </a:r>
          </a:p>
          <a:p>
            <a:pPr algn="l">
              <a:lnSpc>
                <a:spcPct val="105000"/>
              </a:lnSpc>
              <a:spcAft>
                <a:spcPts val="2000"/>
              </a:spcAft>
            </a:pPr>
            <a:r>
              <a:rPr sz="4000" b="1" dirty="0">
                <a:solidFill>
                  <a:srgbClr val="0B2545"/>
                </a:solidFill>
                <a:latin typeface="Calibri"/>
              </a:rPr>
              <a:t>component fails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0" dirty="0">
                <a:solidFill>
                  <a:srgbClr val="343D4A"/>
                </a:solidFill>
                <a:latin typeface="Calibri"/>
              </a:rPr>
              <a:t>A cost-optimal failure-risk model on the SCANIA Component X fleet</a:t>
            </a:r>
            <a:r>
              <a:rPr lang="en-US" sz="1600" dirty="0">
                <a:solidFill>
                  <a:srgbClr val="343D4A"/>
                </a:solidFill>
                <a:latin typeface="Calibri"/>
              </a:rPr>
              <a:t> </a:t>
            </a:r>
            <a:r>
              <a:rPr sz="1600" b="0" dirty="0">
                <a:solidFill>
                  <a:srgbClr val="343D4A"/>
                </a:solidFill>
                <a:latin typeface="Calibri"/>
              </a:rPr>
              <a:t>and what it would take to run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5029200"/>
            <a:ext cx="2011680" cy="15875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5303520"/>
            <a:ext cx="96926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0" dirty="0">
                <a:solidFill>
                  <a:srgbClr val="8A94A0"/>
                </a:solidFill>
                <a:latin typeface="Calibri"/>
              </a:rPr>
              <a:t>Executive summary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dirty="0">
                <a:solidFill>
                  <a:srgbClr val="8A94A0"/>
                </a:solidFill>
                <a:latin typeface="Calibri"/>
              </a:rPr>
              <a:t>33,000 trucks   |   IDA 2024 challenge cost matrix   |   Three-seed result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660545"/>
            <a:ext cx="10545775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n-US" sz="4800" b="1" dirty="0">
                <a:solidFill>
                  <a:srgbClr val="1F7A6B"/>
                </a:solidFill>
              </a:rPr>
              <a:t>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83080"/>
            <a:ext cx="10545775" cy="15875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6291072"/>
            <a:ext cx="105457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8A94A0"/>
                </a:solidFill>
                <a:latin typeface="Calibri"/>
              </a:rPr>
              <a:t>SCANIA Component X   |  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7102"/>
            <a:ext cx="9792789" cy="10994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lang="en-US" sz="3200" b="1" dirty="0">
                <a:solidFill>
                  <a:srgbClr val="343D4A"/>
                </a:solidFill>
                <a:latin typeface="Calibri"/>
              </a:rPr>
              <a:t>H</a:t>
            </a:r>
            <a:r>
              <a:rPr sz="3200" b="1" dirty="0">
                <a:solidFill>
                  <a:srgbClr val="343D4A"/>
                </a:solidFill>
                <a:latin typeface="Calibri"/>
              </a:rPr>
              <a:t>ow close is the monitored component to failure, using only the readouts that truck has already sent home.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48640"/>
            <a:ext cx="10545775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4800" b="1" dirty="0">
                <a:solidFill>
                  <a:srgbClr val="1F7A6B"/>
                </a:solidFill>
                <a:latin typeface="Calibri"/>
              </a:rPr>
              <a:t>WHY ACCURACY FAILS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83080"/>
            <a:ext cx="10545775" cy="15875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6291072"/>
            <a:ext cx="105457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8A94A0"/>
                </a:solidFill>
                <a:latin typeface="Calibri"/>
              </a:rPr>
              <a:t>SCANIA Component X   |  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13432"/>
            <a:ext cx="2753258" cy="11676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6000" b="1" dirty="0">
                <a:solidFill>
                  <a:srgbClr val="B5481E"/>
                </a:solidFill>
                <a:latin typeface="Calibri"/>
              </a:rPr>
              <a:t>500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dirty="0">
                <a:solidFill>
                  <a:srgbClr val="8A94A0"/>
                </a:solidFill>
                <a:latin typeface="Calibri"/>
              </a:rPr>
              <a:t>Cost of missing a truck that fails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1538" y="2313432"/>
            <a:ext cx="2753258" cy="11676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6000" b="1" dirty="0">
                <a:solidFill>
                  <a:srgbClr val="1F7A6B"/>
                </a:solidFill>
                <a:latin typeface="Calibri"/>
              </a:rPr>
              <a:t>10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dirty="0">
                <a:solidFill>
                  <a:srgbClr val="8A94A0"/>
                </a:solidFill>
                <a:latin typeface="Calibri"/>
              </a:rPr>
              <a:t>Cost of a workshop check that finds nothing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06024" y="2313432"/>
            <a:ext cx="2753258" cy="11676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6000" b="1" dirty="0">
                <a:solidFill>
                  <a:srgbClr val="0B2545"/>
                </a:solidFill>
                <a:latin typeface="Calibri"/>
              </a:rPr>
              <a:t>50 : 1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dirty="0">
                <a:solidFill>
                  <a:srgbClr val="8A94A0"/>
                </a:solidFill>
                <a:latin typeface="Calibri"/>
              </a:rPr>
              <a:t>False alarms one real catch pays for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02804"/>
            <a:ext cx="10545775" cy="1012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600" b="1" dirty="0">
                <a:solidFill>
                  <a:srgbClr val="0B2545"/>
                </a:solidFill>
                <a:latin typeface="Calibri"/>
              </a:rPr>
              <a:t>A model scored on accuracy predicts healthy for everyone,</a:t>
            </a:r>
            <a:r>
              <a:rPr sz="1600" dirty="0">
                <a:solidFill>
                  <a:srgbClr val="343D4A"/>
                </a:solidFill>
                <a:latin typeface="Calibri"/>
              </a:rPr>
              <a:t>  is right 97% of the time and saves nothing.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600" b="1" dirty="0">
                <a:solidFill>
                  <a:srgbClr val="0B2545"/>
                </a:solidFill>
                <a:latin typeface="Calibri"/>
              </a:rPr>
              <a:t>We </a:t>
            </a:r>
            <a:r>
              <a:rPr sz="1600" b="1" dirty="0" err="1">
                <a:solidFill>
                  <a:srgbClr val="0B2545"/>
                </a:solidFill>
                <a:latin typeface="Calibri"/>
              </a:rPr>
              <a:t>minimise</a:t>
            </a:r>
            <a:r>
              <a:rPr sz="1600" b="1" dirty="0">
                <a:solidFill>
                  <a:srgbClr val="0B2545"/>
                </a:solidFill>
                <a:latin typeface="Calibri"/>
              </a:rPr>
              <a:t> expected cost instead.</a:t>
            </a:r>
            <a:r>
              <a:rPr sz="1600" dirty="0">
                <a:solidFill>
                  <a:srgbClr val="343D4A"/>
                </a:solidFill>
                <a:latin typeface="Calibri"/>
              </a:rPr>
              <a:t>  The model emits probabilities</a:t>
            </a:r>
            <a:r>
              <a:rPr lang="en-US" sz="1600" dirty="0">
                <a:solidFill>
                  <a:srgbClr val="343D4A"/>
                </a:solidFill>
                <a:latin typeface="Calibri"/>
              </a:rPr>
              <a:t> and</a:t>
            </a:r>
            <a:r>
              <a:rPr sz="1600" dirty="0">
                <a:solidFill>
                  <a:srgbClr val="343D4A"/>
                </a:solidFill>
                <a:latin typeface="Calibri"/>
              </a:rPr>
              <a:t> the decision rule picks the cheapest action under the published cost matrix.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48640"/>
            <a:ext cx="1054577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200" b="1">
                <a:solidFill>
                  <a:srgbClr val="1F7A6B"/>
                </a:solidFill>
                <a:latin typeface="Calibri"/>
              </a:rPr>
              <a:t>RESULT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1">
                <a:solidFill>
                  <a:srgbClr val="0B2545"/>
                </a:solidFill>
                <a:latin typeface="Calibri"/>
              </a:rPr>
              <a:t>Cost against every alternative policy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83080"/>
            <a:ext cx="10545775" cy="15875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6291072"/>
            <a:ext cx="105457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8A94A0"/>
                </a:solidFill>
                <a:latin typeface="Calibri"/>
              </a:rPr>
              <a:t>SCANIA Component X   |  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13432"/>
            <a:ext cx="2753258" cy="76751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dirty="0">
                <a:solidFill>
                  <a:srgbClr val="1F7A6B"/>
                </a:solidFill>
                <a:latin typeface="Calibri"/>
              </a:rPr>
              <a:t>35,469 ± 849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 dirty="0">
                <a:solidFill>
                  <a:srgbClr val="8A94A0"/>
                </a:solidFill>
                <a:latin typeface="Calibri"/>
              </a:rPr>
              <a:t>Test 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19218" y="2313432"/>
            <a:ext cx="2753258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>
                <a:solidFill>
                  <a:srgbClr val="0B2545"/>
                </a:solidFill>
                <a:latin typeface="Calibri"/>
              </a:rPr>
              <a:t>29%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8A94A0"/>
                </a:solidFill>
                <a:latin typeface="Calibri"/>
              </a:rPr>
              <a:t>Cheaper than checking every truck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41156" y="2313432"/>
            <a:ext cx="2753258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>
                <a:solidFill>
                  <a:srgbClr val="0B2545"/>
                </a:solidFill>
                <a:latin typeface="Calibri"/>
              </a:rPr>
              <a:t>0.77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8A94A0"/>
                </a:solidFill>
                <a:latin typeface="Calibri"/>
              </a:rPr>
              <a:t>Share of at-risk trucks caught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1266766"/>
              </p:ext>
            </p:extLst>
          </p:nvPr>
        </p:nvGraphicFramePr>
        <p:xfrm>
          <a:off x="822960" y="3931919"/>
          <a:ext cx="10545775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929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528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8A94A0"/>
                          </a:solidFill>
                          <a:latin typeface="Calibri"/>
                        </a:rPr>
                        <a:t>Policy</a:t>
                      </a:r>
                    </a:p>
                  </a:txBody>
                  <a:tcPr marL="128016" marR="128016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8A94A0"/>
                          </a:solidFill>
                          <a:latin typeface="Calibri"/>
                        </a:rPr>
                        <a:t>Test cost</a:t>
                      </a:r>
                    </a:p>
                  </a:txBody>
                  <a:tcPr marL="128016" marR="128016">
                    <a:solidFill>
                      <a:srgbClr val="F4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500" b="1" dirty="0">
                          <a:solidFill>
                            <a:srgbClr val="1F7A6B"/>
                          </a:solidFill>
                          <a:latin typeface="Calibri"/>
                        </a:rPr>
                        <a:t>Our Solution ( Optimize Machine learning sample test set with 3 seeds )</a:t>
                      </a:r>
                      <a:endParaRPr sz="1500" b="1" dirty="0">
                        <a:solidFill>
                          <a:srgbClr val="1F7A6B"/>
                        </a:solidFill>
                        <a:latin typeface="Calibri"/>
                      </a:endParaRPr>
                    </a:p>
                  </a:txBody>
                  <a:tcPr marL="128016" marR="12801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7A6B"/>
                          </a:solidFill>
                          <a:latin typeface="Calibri"/>
                        </a:rPr>
                        <a:t>35,469 ± 849</a:t>
                      </a:r>
                    </a:p>
                  </a:txBody>
                  <a:tcPr marL="128016" marR="12801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43D4A"/>
                          </a:solidFill>
                          <a:latin typeface="Calibri"/>
                        </a:rPr>
                        <a:t>Check every truck</a:t>
                      </a:r>
                    </a:p>
                  </a:txBody>
                  <a:tcPr marL="128016" marR="12801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43D4A"/>
                          </a:solidFill>
                          <a:latin typeface="Calibri"/>
                        </a:rPr>
                        <a:t>49,671</a:t>
                      </a:r>
                    </a:p>
                  </a:txBody>
                  <a:tcPr marL="128016" marR="12801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43D4A"/>
                          </a:solidFill>
                          <a:latin typeface="Calibri"/>
                        </a:rPr>
                        <a:t>Act on the most likely class</a:t>
                      </a:r>
                    </a:p>
                  </a:txBody>
                  <a:tcPr marL="128016" marR="12801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43D4A"/>
                          </a:solidFill>
                          <a:latin typeface="Calibri"/>
                        </a:rPr>
                        <a:t>56,100</a:t>
                      </a:r>
                    </a:p>
                  </a:txBody>
                  <a:tcPr marL="128016" marR="12801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43D4A"/>
                          </a:solidFill>
                          <a:latin typeface="Calibri"/>
                        </a:rPr>
                        <a:t>Check nothing</a:t>
                      </a:r>
                    </a:p>
                  </a:txBody>
                  <a:tcPr marL="128016" marR="12801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500" b="0" dirty="0">
                          <a:solidFill>
                            <a:srgbClr val="343D4A"/>
                          </a:solidFill>
                          <a:latin typeface="Calibri"/>
                        </a:rPr>
                        <a:t>56,100</a:t>
                      </a:r>
                    </a:p>
                  </a:txBody>
                  <a:tcPr marL="128016" marR="12801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48640"/>
            <a:ext cx="1054577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200" b="1">
                <a:solidFill>
                  <a:srgbClr val="1F7A6B"/>
                </a:solidFill>
                <a:latin typeface="Calibri"/>
              </a:rPr>
              <a:t>IN OPERATIONAL TERMS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1">
                <a:solidFill>
                  <a:srgbClr val="0B2545"/>
                </a:solidFill>
                <a:latin typeface="Calibri"/>
              </a:rPr>
              <a:t>What the number buys the workshop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83080"/>
            <a:ext cx="10545775" cy="15875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6291072"/>
            <a:ext cx="105457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8A94A0"/>
                </a:solidFill>
                <a:latin typeface="Calibri"/>
              </a:rPr>
              <a:t>SCANIA Component X   |  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545775" cy="16545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600" b="1" dirty="0">
                <a:solidFill>
                  <a:srgbClr val="0B2545"/>
                </a:solidFill>
                <a:latin typeface="Calibri"/>
              </a:rPr>
              <a:t>109 of 142 at-risk trucks are caught</a:t>
            </a:r>
            <a:r>
              <a:rPr sz="1600" dirty="0">
                <a:solidFill>
                  <a:srgbClr val="343D4A"/>
                </a:solidFill>
                <a:latin typeface="Calibri"/>
              </a:rPr>
              <a:t>  before the component fails at the tuned operating point.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600" b="1" dirty="0">
                <a:solidFill>
                  <a:srgbClr val="0B2545"/>
                </a:solidFill>
                <a:latin typeface="Calibri"/>
              </a:rPr>
              <a:t>About 2,100 of 5,045 trucks are called in.</a:t>
            </a:r>
            <a:r>
              <a:rPr sz="1600" dirty="0">
                <a:solidFill>
                  <a:srgbClr val="343D4A"/>
                </a:solidFill>
                <a:latin typeface="Calibri"/>
              </a:rPr>
              <a:t>  Checking all 5,045 catches every failure and costs 40% more.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600" b="1" dirty="0">
                <a:solidFill>
                  <a:srgbClr val="0B2545"/>
                </a:solidFill>
                <a:latin typeface="Calibri"/>
              </a:rPr>
              <a:t>The saving comes from not inspecting the other 2,900</a:t>
            </a:r>
            <a:r>
              <a:rPr sz="1600" dirty="0">
                <a:solidFill>
                  <a:srgbClr val="343D4A"/>
                </a:solidFill>
                <a:latin typeface="Calibri"/>
              </a:rPr>
              <a:t> while still reaching most of the trucks that were going to fail.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600" b="1" dirty="0">
                <a:solidFill>
                  <a:srgbClr val="0B2545"/>
                </a:solidFill>
                <a:latin typeface="Calibri"/>
              </a:rPr>
              <a:t>33 at-risk trucks are still missed.</a:t>
            </a:r>
            <a:r>
              <a:rPr sz="1600" dirty="0">
                <a:solidFill>
                  <a:srgbClr val="343D4A"/>
                </a:solidFill>
                <a:latin typeface="Calibri"/>
              </a:rPr>
              <a:t>  That residual is the honest cost of the current model and it is where further work pays.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48640"/>
            <a:ext cx="1054577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200" b="1" dirty="0">
                <a:solidFill>
                  <a:srgbClr val="1F7A6B"/>
                </a:solidFill>
                <a:latin typeface="Calibri"/>
              </a:rPr>
              <a:t>BENCHMARK</a:t>
            </a:r>
            <a:endParaRPr lang="en-US" sz="1200" b="1" dirty="0">
              <a:solidFill>
                <a:srgbClr val="1F7A6B"/>
              </a:solidFill>
              <a:latin typeface="Calibri"/>
            </a:endParaRP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3100" b="1" dirty="0">
                <a:solidFill>
                  <a:srgbClr val="0B2545"/>
                </a:solidFill>
                <a:latin typeface="Calibri"/>
              </a:rPr>
              <a:t>Against the published results on this dataset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83080"/>
            <a:ext cx="10545775" cy="15875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6291072"/>
            <a:ext cx="105457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8A94A0"/>
                </a:solidFill>
                <a:latin typeface="Calibri"/>
              </a:rPr>
              <a:t>SCANIA Component X   |   06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8950894"/>
              </p:ext>
            </p:extLst>
          </p:nvPr>
        </p:nvGraphicFramePr>
        <p:xfrm>
          <a:off x="822960" y="2057400"/>
          <a:ext cx="10545775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929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528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8A94A0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L="128016" marR="128016"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8A94A0"/>
                          </a:solidFill>
                          <a:latin typeface="Calibri"/>
                        </a:rPr>
                        <a:t>Test cost</a:t>
                      </a:r>
                    </a:p>
                  </a:txBody>
                  <a:tcPr marL="128016" marR="128016">
                    <a:solidFill>
                      <a:srgbClr val="F4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lang="en-US" sz="1500" b="1" dirty="0">
                          <a:solidFill>
                            <a:srgbClr val="1F7A6B"/>
                          </a:solidFill>
                          <a:latin typeface="Calibri"/>
                        </a:rPr>
                        <a:t>Our work</a:t>
                      </a:r>
                      <a:endParaRPr sz="1500" b="1" dirty="0">
                        <a:solidFill>
                          <a:srgbClr val="1F7A6B"/>
                        </a:solidFill>
                        <a:latin typeface="Calibri"/>
                      </a:endParaRPr>
                    </a:p>
                  </a:txBody>
                  <a:tcPr marL="128016" marR="12801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1F7A6B"/>
                          </a:solidFill>
                          <a:latin typeface="Calibri"/>
                        </a:rPr>
                        <a:t>35,469 ± 849</a:t>
                      </a:r>
                    </a:p>
                  </a:txBody>
                  <a:tcPr marL="128016" marR="12801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500" b="0" dirty="0">
                          <a:solidFill>
                            <a:srgbClr val="343D4A"/>
                          </a:solidFill>
                          <a:latin typeface="Calibri"/>
                        </a:rPr>
                        <a:t>Published </a:t>
                      </a:r>
                      <a:r>
                        <a:rPr sz="1500" b="0" dirty="0" err="1">
                          <a:solidFill>
                            <a:srgbClr val="343D4A"/>
                          </a:solidFill>
                          <a:latin typeface="Calibri"/>
                        </a:rPr>
                        <a:t>CatBoost</a:t>
                      </a:r>
                      <a:r>
                        <a:rPr sz="1500" b="0" dirty="0">
                          <a:solidFill>
                            <a:srgbClr val="343D4A"/>
                          </a:solidFill>
                          <a:latin typeface="Calibri"/>
                        </a:rPr>
                        <a:t> result on the same benchmark</a:t>
                      </a:r>
                    </a:p>
                  </a:txBody>
                  <a:tcPr marL="128016" marR="12801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43D4A"/>
                          </a:solidFill>
                          <a:latin typeface="Calibri"/>
                        </a:rPr>
                        <a:t>36,724</a:t>
                      </a:r>
                    </a:p>
                  </a:txBody>
                  <a:tcPr marL="128016" marR="12801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500" b="0" dirty="0">
                          <a:solidFill>
                            <a:srgbClr val="343D4A"/>
                          </a:solidFill>
                          <a:latin typeface="Calibri"/>
                        </a:rPr>
                        <a:t>Trivial baseline, check every truck</a:t>
                      </a:r>
                    </a:p>
                  </a:txBody>
                  <a:tcPr marL="128016" marR="12801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500" b="0" dirty="0">
                          <a:solidFill>
                            <a:srgbClr val="343D4A"/>
                          </a:solidFill>
                          <a:latin typeface="Calibri"/>
                        </a:rPr>
                        <a:t>49,671</a:t>
                      </a:r>
                    </a:p>
                  </a:txBody>
                  <a:tcPr marL="128016" marR="128016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160520"/>
            <a:ext cx="10545775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The gap is 1,255, wider than our own seed spread of 849.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Read it as level or slightly ahead, not a clear win.</a:t>
            </a:r>
            <a:r>
              <a:rPr sz="1600">
                <a:solidFill>
                  <a:srgbClr val="343D4A"/>
                </a:solidFill>
                <a:latin typeface="Calibri"/>
              </a:rPr>
              <a:t>  The published figure does not state how many runs it averages, so the two spreads are not directly comparable.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48640"/>
            <a:ext cx="1054577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200" b="1">
                <a:solidFill>
                  <a:srgbClr val="1F7A6B"/>
                </a:solidFill>
                <a:latin typeface="Calibri"/>
              </a:rPr>
              <a:t>CONFIDENCE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1">
                <a:solidFill>
                  <a:srgbClr val="0B2545"/>
                </a:solidFill>
                <a:latin typeface="Calibri"/>
              </a:rPr>
              <a:t>Why this number is reportable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83080"/>
            <a:ext cx="10545775" cy="15875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6291072"/>
            <a:ext cx="105457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8A94A0"/>
                </a:solidFill>
                <a:latin typeface="Calibri"/>
              </a:rPr>
              <a:t>SCANIA Component X   |  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545775" cy="3886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300"/>
              </a:spcAft>
            </a:pPr>
            <a:r>
              <a:rPr sz="1500" b="1">
                <a:solidFill>
                  <a:srgbClr val="0B2545"/>
                </a:solidFill>
                <a:latin typeface="Calibri"/>
              </a:rPr>
              <a:t>Three seeds, not one.</a:t>
            </a:r>
            <a:r>
              <a:rPr sz="1500">
                <a:solidFill>
                  <a:srgbClr val="343D4A"/>
                </a:solidFill>
                <a:latin typeface="Calibri"/>
              </a:rPr>
              <a:t>  A single run on this data moves by more than most of the improvements teams chase on it.</a:t>
            </a:r>
          </a:p>
          <a:p>
            <a:pPr algn="l">
              <a:lnSpc>
                <a:spcPct val="115000"/>
              </a:lnSpc>
              <a:spcAft>
                <a:spcPts val="1300"/>
              </a:spcAft>
            </a:pPr>
            <a:r>
              <a:rPr sz="1500" b="1">
                <a:solidFill>
                  <a:srgbClr val="0B2545"/>
                </a:solidFill>
                <a:latin typeface="Calibri"/>
              </a:rPr>
              <a:t>The noise floor was measured, not assumed.</a:t>
            </a:r>
            <a:r>
              <a:rPr sz="1500">
                <a:solidFill>
                  <a:srgbClr val="343D4A"/>
                </a:solidFill>
                <a:latin typeface="Calibri"/>
              </a:rPr>
              <a:t>  Single-split tuning had a seed-to-seed spread of 1,668. Pooling validation into training and tuning on out-of-fold predictions halved it to 849.</a:t>
            </a:r>
          </a:p>
          <a:p>
            <a:pPr algn="l">
              <a:lnSpc>
                <a:spcPct val="115000"/>
              </a:lnSpc>
              <a:spcAft>
                <a:spcPts val="1300"/>
              </a:spcAft>
            </a:pPr>
            <a:r>
              <a:rPr sz="1500" b="1">
                <a:solidFill>
                  <a:srgbClr val="0B2545"/>
                </a:solidFill>
                <a:latin typeface="Calibri"/>
              </a:rPr>
              <a:t>A leakage audit was run and it found something.</a:t>
            </a:r>
            <a:r>
              <a:rPr sz="1500">
                <a:solidFill>
                  <a:srgbClr val="343D4A"/>
                </a:solidFill>
                <a:latin typeface="Calibri"/>
              </a:rPr>
              <a:t>  A backward fill let a scoring point read readouts from its own future. Removing it moved the result from a flattering 35,925 to an honest 39,379, before the protocol work earned the gain back.</a:t>
            </a:r>
          </a:p>
          <a:p>
            <a:pPr algn="l">
              <a:lnSpc>
                <a:spcPct val="115000"/>
              </a:lnSpc>
              <a:spcAft>
                <a:spcPts val="1300"/>
              </a:spcAft>
            </a:pPr>
            <a:r>
              <a:rPr sz="1500" b="1">
                <a:solidFill>
                  <a:srgbClr val="0B2545"/>
                </a:solidFill>
                <a:latin typeface="Calibri"/>
              </a:rPr>
              <a:t>The test set was scored once,</a:t>
            </a:r>
            <a:r>
              <a:rPr sz="1500">
                <a:solidFill>
                  <a:srgbClr val="343D4A"/>
                </a:solidFill>
                <a:latin typeface="Calibri"/>
              </a:rPr>
              <a:t>  at the end, after every decision was fixed on training data.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48640"/>
            <a:ext cx="1054577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200" b="1">
                <a:solidFill>
                  <a:srgbClr val="1F7A6B"/>
                </a:solidFill>
                <a:latin typeface="Calibri"/>
              </a:rPr>
              <a:t>LIMITATION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1">
                <a:solidFill>
                  <a:srgbClr val="0B2545"/>
                </a:solidFill>
                <a:latin typeface="Calibri"/>
              </a:rPr>
              <a:t>Ranking is the binding constraint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83080"/>
            <a:ext cx="10545775" cy="15875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6291072"/>
            <a:ext cx="105457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8A94A0"/>
                </a:solidFill>
                <a:latin typeface="Calibri"/>
              </a:rPr>
              <a:t>SCANIA Component X   |   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57400"/>
            <a:ext cx="3301898" cy="150876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2313432"/>
            <a:ext cx="2753258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>
                <a:solidFill>
                  <a:srgbClr val="B5481E"/>
                </a:solidFill>
                <a:latin typeface="Calibri"/>
              </a:rPr>
              <a:t>15 / 142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8A94A0"/>
                </a:solidFill>
                <a:latin typeface="Calibri"/>
              </a:rPr>
              <a:t>At-risk trucks inside the top 100 by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4898" y="2057400"/>
            <a:ext cx="3301898" cy="150876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19218" y="2313432"/>
            <a:ext cx="2753258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>
                <a:solidFill>
                  <a:srgbClr val="0B2545"/>
                </a:solidFill>
                <a:latin typeface="Calibri"/>
              </a:rPr>
              <a:t>47 / 142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8A94A0"/>
                </a:solidFill>
                <a:latin typeface="Calibri"/>
              </a:rPr>
              <a:t>Inside the top 500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6836" y="2057400"/>
            <a:ext cx="3301898" cy="150876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41156" y="2313432"/>
            <a:ext cx="2753258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>
                <a:solidFill>
                  <a:srgbClr val="0B2545"/>
                </a:solidFill>
                <a:latin typeface="Calibri"/>
              </a:rPr>
              <a:t>2,100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8A94A0"/>
                </a:solidFill>
                <a:latin typeface="Calibri"/>
              </a:rPr>
              <a:t>Alarms the cost rule actually raises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77640"/>
            <a:ext cx="10545775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The cost win comes from alarming broadly, not from sharp ranking.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If the workshop can only take 100 trucks a day,</a:t>
            </a:r>
            <a:r>
              <a:rPr sz="1600">
                <a:solidFill>
                  <a:srgbClr val="343D4A"/>
                </a:solidFill>
                <a:latin typeface="Calibri"/>
              </a:rPr>
              <a:t>  this model finds roughly one in ten of the failures, not eight in ten.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Capacity-constrained rollout needs better ordering,</a:t>
            </a:r>
            <a:r>
              <a:rPr sz="1600">
                <a:solidFill>
                  <a:srgbClr val="343D4A"/>
                </a:solidFill>
                <a:latin typeface="Calibri"/>
              </a:rPr>
              <a:t>  which is the next piece of modelling work, not more threshold tuning.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48640"/>
            <a:ext cx="1054577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200" b="1">
                <a:solidFill>
                  <a:srgbClr val="1F7A6B"/>
                </a:solidFill>
                <a:latin typeface="Calibri"/>
              </a:rPr>
              <a:t>RUNNING IT FOR REAL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1">
                <a:solidFill>
                  <a:srgbClr val="0B2545"/>
                </a:solidFill>
                <a:latin typeface="Calibri"/>
              </a:rPr>
              <a:t>The loop this would sit inside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83080"/>
            <a:ext cx="10545775" cy="15875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6291072"/>
            <a:ext cx="105457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8A94A0"/>
                </a:solidFill>
                <a:latin typeface="Calibri"/>
              </a:rPr>
              <a:t>SCANIA Component X   |  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545775" cy="3886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500" b="1">
                <a:solidFill>
                  <a:srgbClr val="0B2545"/>
                </a:solidFill>
                <a:latin typeface="Calibri"/>
              </a:rPr>
              <a:t>Batch scoring, not a real-time alarm.</a:t>
            </a:r>
            <a:r>
              <a:rPr sz="1500">
                <a:solidFill>
                  <a:srgbClr val="343D4A"/>
                </a:solidFill>
                <a:latin typeface="Calibri"/>
              </a:rPr>
              <a:t>  These are aggregate counters uploaded per cycle, not a live sensor stream. Trucks are rescored when new readouts arrive.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500" b="1">
                <a:solidFill>
                  <a:srgbClr val="0B2545"/>
                </a:solidFill>
                <a:latin typeface="Calibri"/>
              </a:rPr>
              <a:t>Output is a ranked work list for the planner,</a:t>
            </a:r>
            <a:r>
              <a:rPr sz="1500">
                <a:solidFill>
                  <a:srgbClr val="343D4A"/>
                </a:solidFill>
                <a:latin typeface="Calibri"/>
              </a:rPr>
              <a:t>  trimmed to what the workshop can absorb that day.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500" b="1">
                <a:solidFill>
                  <a:srgbClr val="0B2545"/>
                </a:solidFill>
                <a:latin typeface="Calibri"/>
              </a:rPr>
              <a:t>Every dispatched truck returns a label.</a:t>
            </a:r>
            <a:r>
              <a:rPr sz="1500">
                <a:solidFill>
                  <a:srgbClr val="343D4A"/>
                </a:solidFill>
                <a:latin typeface="Calibri"/>
              </a:rPr>
              <a:t>  Found or not found feeds the next training round; without that loop the model stops improving on day one.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500" b="1">
                <a:solidFill>
                  <a:srgbClr val="0B2545"/>
                </a:solidFill>
                <a:latin typeface="Calibri"/>
              </a:rPr>
              <a:t>Drift has to be watched.</a:t>
            </a:r>
            <a:r>
              <a:rPr sz="1500">
                <a:solidFill>
                  <a:srgbClr val="343D4A"/>
                </a:solidFill>
                <a:latin typeface="Calibri"/>
              </a:rPr>
              <a:t>  New vehicle configurations and new routes shift the inputs; retraining is scheduled, not incidental.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500" b="1">
                <a:solidFill>
                  <a:srgbClr val="0B2545"/>
                </a:solidFill>
                <a:latin typeface="Calibri"/>
              </a:rPr>
              <a:t>Each alert needs a reason a mechanic will accept,</a:t>
            </a:r>
            <a:r>
              <a:rPr sz="1500">
                <a:solidFill>
                  <a:srgbClr val="343D4A"/>
                </a:solidFill>
                <a:latin typeface="Calibri"/>
              </a:rPr>
              <a:t>  such as the counter that accelerated threefold over three cycles.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48640"/>
            <a:ext cx="1054577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200" b="1">
                <a:solidFill>
                  <a:srgbClr val="1F7A6B"/>
                </a:solidFill>
                <a:latin typeface="Calibri"/>
              </a:rPr>
              <a:t>METHOD, IN ONE SLIDE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1">
                <a:solidFill>
                  <a:srgbClr val="0B2545"/>
                </a:solidFill>
                <a:latin typeface="Calibri"/>
              </a:rPr>
              <a:t>What kind of model this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83080"/>
            <a:ext cx="10545775" cy="15875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6291072"/>
            <a:ext cx="105457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8A94A0"/>
                </a:solidFill>
                <a:latin typeface="Calibri"/>
              </a:rPr>
              <a:t>SCANIA Component X   |  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545775" cy="3886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300"/>
              </a:spcAft>
            </a:pPr>
            <a:r>
              <a:rPr sz="1500" b="1">
                <a:solidFill>
                  <a:srgbClr val="0B2545"/>
                </a:solidFill>
                <a:latin typeface="Calibri"/>
              </a:rPr>
              <a:t>Discrete-time survival classification on panel data.</a:t>
            </a:r>
            <a:r>
              <a:rPr sz="1500">
                <a:solidFill>
                  <a:srgbClr val="343D4A"/>
                </a:solidFill>
                <a:latin typeface="Calibri"/>
              </a:rPr>
              <a:t>  Not a sequence forecaster: the history up to a scoring point is compressed into features, and a gradient-boosted tree predicts the degradation class.</a:t>
            </a:r>
          </a:p>
          <a:p>
            <a:pPr algn="l">
              <a:lnSpc>
                <a:spcPct val="115000"/>
              </a:lnSpc>
              <a:spcAft>
                <a:spcPts val="1300"/>
              </a:spcAft>
            </a:pPr>
            <a:r>
              <a:rPr sz="1500" b="1">
                <a:solidFill>
                  <a:srgbClr val="0B2545"/>
                </a:solidFill>
                <a:latin typeface="Calibri"/>
              </a:rPr>
              <a:t>Features are rates, not levels.</a:t>
            </a:r>
            <a:r>
              <a:rPr sz="1500">
                <a:solidFill>
                  <a:srgbClr val="343D4A"/>
                </a:solidFill>
                <a:latin typeface="Calibri"/>
              </a:rPr>
              <a:t>  The counters are cumulative and never reset, so wear speed over 3, 10 and 20 readout windows carries the signal, plus acceleration, histogram drift and reporting gaps.</a:t>
            </a:r>
          </a:p>
          <a:p>
            <a:pPr algn="l">
              <a:lnSpc>
                <a:spcPct val="115000"/>
              </a:lnSpc>
              <a:spcAft>
                <a:spcPts val="1300"/>
              </a:spcAft>
            </a:pPr>
            <a:r>
              <a:rPr sz="1500" b="1">
                <a:solidFill>
                  <a:srgbClr val="0B2545"/>
                </a:solidFill>
                <a:latin typeface="Calibri"/>
              </a:rPr>
              <a:t>89% of outcomes are censored.</a:t>
            </a:r>
            <a:r>
              <a:rPr sz="1500">
                <a:solidFill>
                  <a:srgbClr val="343D4A"/>
                </a:solidFill>
                <a:latin typeface="Calibri"/>
              </a:rPr>
              <a:t>  Most trucks never failed inside the observation window, which is why a survival framing beats a plain binary classifier.</a:t>
            </a:r>
          </a:p>
          <a:p>
            <a:pPr algn="l">
              <a:lnSpc>
                <a:spcPct val="115000"/>
              </a:lnSpc>
              <a:spcAft>
                <a:spcPts val="1300"/>
              </a:spcAft>
            </a:pPr>
            <a:r>
              <a:rPr sz="1500" b="1">
                <a:solidFill>
                  <a:srgbClr val="0B2545"/>
                </a:solidFill>
                <a:latin typeface="Calibri"/>
              </a:rPr>
              <a:t>Folds are grouped by vehicle,</a:t>
            </a:r>
            <a:r>
              <a:rPr sz="1500">
                <a:solidFill>
                  <a:srgbClr val="343D4A"/>
                </a:solidFill>
                <a:latin typeface="Calibri"/>
              </a:rPr>
              <a:t>  so near-duplicate scoring points from one truck can never sit on both sides of a split.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48640"/>
            <a:ext cx="1054577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200" b="1">
                <a:solidFill>
                  <a:srgbClr val="1F7A6B"/>
                </a:solidFill>
                <a:latin typeface="Calibri"/>
              </a:rPr>
              <a:t>GO DEEPER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1">
                <a:solidFill>
                  <a:srgbClr val="0B2545"/>
                </a:solidFill>
                <a:latin typeface="Calibri"/>
              </a:rPr>
              <a:t>The analysis behind these numbers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83080"/>
            <a:ext cx="10545775" cy="15875"/>
          </a:xfrm>
          <a:prstGeom prst="rect">
            <a:avLst/>
          </a:prstGeom>
          <a:solidFill>
            <a:srgbClr val="DDE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6291072"/>
            <a:ext cx="105457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8A94A0"/>
                </a:solidFill>
                <a:latin typeface="Calibri"/>
              </a:rPr>
              <a:t>SCANIA Component X   |  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57400"/>
            <a:ext cx="10545775" cy="868680"/>
          </a:xfrm>
          <a:prstGeom prst="roundRect">
            <a:avLst>
              <a:gd name="adj" fmla="val 8000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3000" y="2203704"/>
            <a:ext cx="99056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B2545"/>
                </a:solidFill>
                <a:latin typeface="Calibri"/>
                <a:hlinkClick r:id="rId2"/>
              </a:rPr>
              <a:t>Open the full EDA notebook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8A94A0"/>
                </a:solidFill>
                <a:latin typeface="Calibri"/>
              </a:rPr>
              <a:t>https://nbviewer.org/github/jiramethtmt/predictive-maintenance-time-series/blob/main/notebooks/01_eda_scania_component_x.ipynb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108960"/>
            <a:ext cx="10545775" cy="868680"/>
          </a:xfrm>
          <a:prstGeom prst="roundRect">
            <a:avLst>
              <a:gd name="adj" fmla="val 8000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3255264"/>
            <a:ext cx="99056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B2545"/>
                </a:solidFill>
                <a:latin typeface="Calibri"/>
                <a:hlinkClick r:id="rId3"/>
              </a:rPr>
              <a:t>Repository, code and reproduction steps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8A94A0"/>
                </a:solidFill>
                <a:latin typeface="Calibri"/>
              </a:rPr>
              <a:t>https://github.com/jiramethtmt/predictive-maintenance-time-series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160520"/>
            <a:ext cx="10545775" cy="868680"/>
          </a:xfrm>
          <a:prstGeom prst="roundRect">
            <a:avLst>
              <a:gd name="adj" fmla="val 8000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4306824"/>
            <a:ext cx="99056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B2545"/>
                </a:solidFill>
                <a:latin typeface="Calibri"/>
                <a:hlinkClick r:id="rId4"/>
              </a:rPr>
              <a:t>SCANIA Component X dataset, CC BY 4.0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8A94A0"/>
                </a:solidFill>
                <a:latin typeface="Calibri"/>
              </a:rPr>
              <a:t>https://doi.org/10.5878/jvb5-d390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212080"/>
            <a:ext cx="10545775" cy="868680"/>
          </a:xfrm>
          <a:prstGeom prst="roundRect">
            <a:avLst>
              <a:gd name="adj" fmla="val 8000"/>
            </a:avLst>
          </a:prstGeom>
          <a:solidFill>
            <a:srgbClr val="F4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43000" y="5358384"/>
            <a:ext cx="9905695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0B2545"/>
                </a:solidFill>
                <a:latin typeface="Calibri"/>
                <a:hlinkClick r:id="rId5"/>
              </a:rPr>
              <a:t>Notebook source on GitHub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8A94A0"/>
                </a:solidFill>
                <a:latin typeface="Calibri"/>
              </a:rPr>
              <a:t>https://github.com/jiramethtmt/predictive-maintenance-time-series/blob/main/notebooks/01_eda_scania_component_x.ipynb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1009</Words>
  <Application>Microsoft Office PowerPoint</Application>
  <PresentationFormat>Widescreen</PresentationFormat>
  <Paragraphs>103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Jirameth Wannasiwaporn</cp:lastModifiedBy>
  <cp:revision>2</cp:revision>
  <dcterms:created xsi:type="dcterms:W3CDTF">2013-01-27T09:14:16Z</dcterms:created>
  <dcterms:modified xsi:type="dcterms:W3CDTF">2026-09-15T02:32:53Z</dcterms:modified>
  <cp:category/>
</cp:coreProperties>
</file>