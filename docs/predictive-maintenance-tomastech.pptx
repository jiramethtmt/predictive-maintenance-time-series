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4" r:id="rId1"/>
  </p:sldMasterIdLst>
  <p:notesMasterIdLst>
    <p:notesMasterId r:id="rId6"/>
  </p:notesMasterIdLst>
  <p:handoutMasterIdLst>
    <p:handoutMasterId r:id="rId7"/>
  </p:handoutMasterIdLst>
  <p:sldIdLst>
    <p:sldId id="362" r:id="rId2"/>
    <p:sldId id="398" r:id="rId3"/>
    <p:sldId id="384" r:id="rId4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06" r:id="rId21"/>
    <p:sldId id="372" r:id="rId5"/>
  </p:sldIdLst>
  <p:sldSz cx="12192000" cy="6858000"/>
  <p:notesSz cx="6797675" cy="98726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1A9"/>
    <a:srgbClr val="009C7C"/>
    <a:srgbClr val="EE7700"/>
    <a:srgbClr val="F7B14D"/>
    <a:srgbClr val="EF8822"/>
    <a:srgbClr val="EF7D00"/>
    <a:srgbClr val="FFEB00"/>
    <a:srgbClr val="F6AF4A"/>
    <a:srgbClr val="0055A0"/>
    <a:srgbClr val="0085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EC00CE-1A4E-4849-8426-3558C39DF6C9}" v="3" dt="2026-03-20T06:48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60" autoAdjust="0"/>
    <p:restoredTop sz="93963" autoAdjust="0"/>
  </p:normalViewPr>
  <p:slideViewPr>
    <p:cSldViewPr snapToGrid="0" showGuides="1">
      <p:cViewPr varScale="1">
        <p:scale>
          <a:sx n="104" d="100"/>
          <a:sy n="104" d="100"/>
        </p:scale>
        <p:origin x="12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47" d="100"/>
          <a:sy n="47" d="100"/>
        </p:scale>
        <p:origin x="1866" y="21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o Nozaki" userId="e1d02970-db30-4b09-8464-306dfb8d267b" providerId="ADAL" clId="{F3544E13-56A3-4602-9864-F5CA23C43D79}"/>
    <pc:docChg chg="custSel modSld">
      <pc:chgData name="Ryo Nozaki" userId="e1d02970-db30-4b09-8464-306dfb8d267b" providerId="ADAL" clId="{F3544E13-56A3-4602-9864-F5CA23C43D79}" dt="2026-03-20T06:48:56.865" v="15"/>
      <pc:docMkLst>
        <pc:docMk/>
      </pc:docMkLst>
      <pc:sldChg chg="addSp delSp modSp mod">
        <pc:chgData name="Ryo Nozaki" userId="e1d02970-db30-4b09-8464-306dfb8d267b" providerId="ADAL" clId="{F3544E13-56A3-4602-9864-F5CA23C43D79}" dt="2026-03-20T06:48:56.865" v="15"/>
        <pc:sldMkLst>
          <pc:docMk/>
          <pc:sldMk cId="4027146328" sldId="365"/>
        </pc:sldMkLst>
        <pc:picChg chg="add mod">
          <ac:chgData name="Ryo Nozaki" userId="e1d02970-db30-4b09-8464-306dfb8d267b" providerId="ADAL" clId="{F3544E13-56A3-4602-9864-F5CA23C43D79}" dt="2026-03-20T06:48:56.865" v="15"/>
          <ac:picMkLst>
            <pc:docMk/>
            <pc:sldMk cId="4027146328" sldId="365"/>
            <ac:picMk id="2" creationId="{FAAD4E87-70B6-321B-798F-3F2D5E92E8A9}"/>
          </ac:picMkLst>
        </pc:picChg>
        <pc:picChg chg="del">
          <ac:chgData name="Ryo Nozaki" userId="e1d02970-db30-4b09-8464-306dfb8d267b" providerId="ADAL" clId="{F3544E13-56A3-4602-9864-F5CA23C43D79}" dt="2026-03-20T06:48:56.607" v="14" actId="478"/>
          <ac:picMkLst>
            <pc:docMk/>
            <pc:sldMk cId="4027146328" sldId="365"/>
            <ac:picMk id="3" creationId="{650F43D7-F7E5-13DC-5AC9-815E74BA204C}"/>
          </ac:picMkLst>
        </pc:picChg>
      </pc:sldChg>
      <pc:sldChg chg="modSp mod">
        <pc:chgData name="Ryo Nozaki" userId="e1d02970-db30-4b09-8464-306dfb8d267b" providerId="ADAL" clId="{F3544E13-56A3-4602-9864-F5CA23C43D79}" dt="2026-03-19T10:07:13.046" v="13"/>
        <pc:sldMkLst>
          <pc:docMk/>
          <pc:sldMk cId="4102525098" sldId="391"/>
        </pc:sldMkLst>
        <pc:spChg chg="mod">
          <ac:chgData name="Ryo Nozaki" userId="e1d02970-db30-4b09-8464-306dfb8d267b" providerId="ADAL" clId="{F3544E13-56A3-4602-9864-F5CA23C43D79}" dt="2026-03-19T10:07:13.046" v="13"/>
          <ac:spMkLst>
            <pc:docMk/>
            <pc:sldMk cId="4102525098" sldId="391"/>
            <ac:spMk id="17" creationId="{6DCD6165-111F-5E14-9401-2B087D4769C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68896AC-F141-0400-D2D3-2954C7B598B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5595BF2-38B1-F972-EF4D-DC6ECEE39A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5F4CF-8193-4D86-BC97-9E1048C4A2F2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A9719C7-24F5-6206-E9F2-924D94532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363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9C991F1-587D-8947-AD5B-3AAE06CA6C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377363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555B32-804F-4866-BE7F-E20B466A93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869672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09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9D8877-6569-4601-A5D3-72C3670B8196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33488"/>
            <a:ext cx="5921375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D0C45-6DCD-4D47-967D-53E5F83E154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1809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Welcome, everyone, and thank you for coming. This is TOMAS TECH's AI Adoption Training. Our single goal today: you go home ready to start using AI in your own work tomorrow. This is not a lecture — most of these three hours will be hands-on. Relax and enjoy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526B6-C642-0E50-9CF3-17A4E0DE3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27638-B163-C024-33AB-9A5083C54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481C05-5A6C-4AC0-6D20-28C0065BED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today's flow. In the first 20 minutes we look at where generative AI stands today, and in the next 20 we install safety settings on your PCs. Then a 30-minute hands-on with four office automations, a break, and the last 90 minutes are a full workshop: you will build an automation that posts invoice and quotation PDFs into Excel — on your own PC, to take home.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1BBBB5-278E-8053-EA96-E15155B9B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9600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 2 is security setup. It sounds plain, but it is one of today's most important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 for these three hours. For questions any time, here are our contacts. Tomorrow morning, run just one of the Skills you built today — that's the first step to making it stick.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5186B0-3C5D-63AD-9124-865C2F3A6E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6738" y="2066925"/>
            <a:ext cx="10515600" cy="1325563"/>
          </a:xfrm>
          <a:prstGeom prst="rect">
            <a:avLst/>
          </a:prstGeom>
        </p:spPr>
        <p:txBody>
          <a:bodyPr anchor="b"/>
          <a:lstStyle>
            <a:lvl1pPr>
              <a:lnSpc>
                <a:spcPct val="110000"/>
              </a:lnSpc>
              <a:spcAft>
                <a:spcPts val="600"/>
              </a:spcAft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73C838B-1584-D846-5A7A-6105244E6DE0}"/>
              </a:ext>
            </a:extLst>
          </p:cNvPr>
          <p:cNvSpPr/>
          <p:nvPr userDrawn="1"/>
        </p:nvSpPr>
        <p:spPr>
          <a:xfrm>
            <a:off x="0" y="4589518"/>
            <a:ext cx="12192000" cy="703147"/>
          </a:xfrm>
          <a:prstGeom prst="rect">
            <a:avLst/>
          </a:prstGeom>
          <a:solidFill>
            <a:srgbClr val="C9E5FF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4A09907-F2BD-A7F9-C56C-3A58EF2CD3DC}"/>
              </a:ext>
            </a:extLst>
          </p:cNvPr>
          <p:cNvSpPr/>
          <p:nvPr userDrawn="1"/>
        </p:nvSpPr>
        <p:spPr>
          <a:xfrm>
            <a:off x="0" y="4695825"/>
            <a:ext cx="12192000" cy="2162175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DD0ED2EF-BF91-7CD0-4BC4-D686E8B7BB6B}"/>
              </a:ext>
            </a:extLst>
          </p:cNvPr>
          <p:cNvSpPr txBox="1">
            <a:spLocks/>
          </p:cNvSpPr>
          <p:nvPr userDrawn="1"/>
        </p:nvSpPr>
        <p:spPr>
          <a:xfrm>
            <a:off x="476738" y="5594349"/>
            <a:ext cx="5933587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 2" pitchFamily="18" charset="2"/>
              <a:buNone/>
              <a:defRPr kumimoji="1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+mn-lt"/>
                <a:ea typeface="メイリオ"/>
                <a:cs typeface="Segoe UI" panose="020B0502040204020203" pitchFamily="34" charset="0"/>
              </a:rPr>
              <a:t>Presentation by TOMAS TECH CO., LTD.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37A9FF8-660F-DE49-5CF8-F64B0146C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62" y="3856886"/>
            <a:ext cx="3000863" cy="732632"/>
          </a:xfrm>
          <a:prstGeom prst="rect">
            <a:avLst/>
          </a:prstGeom>
          <a:solidFill>
            <a:srgbClr val="0055A0"/>
          </a:solidFill>
        </p:spPr>
      </p:pic>
    </p:spTree>
    <p:extLst>
      <p:ext uri="{BB962C8B-B14F-4D97-AF65-F5344CB8AC3E}">
        <p14:creationId xmlns:p14="http://schemas.microsoft.com/office/powerpoint/2010/main" val="1109617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二等辺三角形 12">
            <a:extLst>
              <a:ext uri="{FF2B5EF4-FFF2-40B4-BE49-F238E27FC236}">
                <a16:creationId xmlns:a16="http://schemas.microsoft.com/office/drawing/2014/main" id="{D777ED97-F3F1-11C6-0589-BF9462712AFD}"/>
              </a:ext>
            </a:extLst>
          </p:cNvPr>
          <p:cNvSpPr/>
          <p:nvPr userDrawn="1"/>
        </p:nvSpPr>
        <p:spPr>
          <a:xfrm>
            <a:off x="926160" y="3242711"/>
            <a:ext cx="4193734" cy="3615289"/>
          </a:xfrm>
          <a:prstGeom prst="triangle">
            <a:avLst>
              <a:gd name="adj" fmla="val 50017"/>
            </a:avLst>
          </a:prstGeom>
          <a:solidFill>
            <a:srgbClr val="FFD9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3B2BD8E5-3F6A-2031-C318-A1B28BA7693D}"/>
              </a:ext>
            </a:extLst>
          </p:cNvPr>
          <p:cNvSpPr/>
          <p:nvPr userDrawn="1"/>
        </p:nvSpPr>
        <p:spPr>
          <a:xfrm>
            <a:off x="1199663" y="3593177"/>
            <a:ext cx="3787194" cy="3264823"/>
          </a:xfrm>
          <a:prstGeom prst="triangle">
            <a:avLst/>
          </a:prstGeom>
          <a:solidFill>
            <a:srgbClr val="00AA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55186B0-3C5D-63AD-9124-865C2F3A6E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64316" y="2052185"/>
            <a:ext cx="6428021" cy="1215526"/>
          </a:xfrm>
          <a:prstGeom prst="rect">
            <a:avLst/>
          </a:prstGeom>
        </p:spPr>
        <p:txBody>
          <a:bodyPr anchor="t">
            <a:spAutoFit/>
          </a:bodyPr>
          <a:lstStyle>
            <a:lvl1pPr>
              <a:lnSpc>
                <a:spcPct val="110000"/>
              </a:lnSpc>
              <a:spcAft>
                <a:spcPts val="600"/>
              </a:spcAft>
              <a:defRPr sz="7200" b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DD0ED2EF-BF91-7CD0-4BC4-D686E8B7BB6B}"/>
              </a:ext>
            </a:extLst>
          </p:cNvPr>
          <p:cNvSpPr txBox="1">
            <a:spLocks/>
          </p:cNvSpPr>
          <p:nvPr userDrawn="1"/>
        </p:nvSpPr>
        <p:spPr>
          <a:xfrm>
            <a:off x="6946694" y="6307132"/>
            <a:ext cx="5140531" cy="36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 2" pitchFamily="18" charset="2"/>
              <a:buNone/>
              <a:defRPr kumimoji="1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rgbClr val="0055A0"/>
                </a:solidFill>
                <a:effectLst/>
                <a:uLnTx/>
                <a:uFillTx/>
                <a:latin typeface="+mn-lt"/>
                <a:ea typeface="メイリオ"/>
                <a:cs typeface="Segoe UI" panose="020B0502040204020203" pitchFamily="34" charset="0"/>
              </a:rPr>
              <a:t>Presentation by TOMAS TECH CO., LTD.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37A9FF8-660F-DE49-5CF8-F64B0146C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2681" y="243287"/>
            <a:ext cx="3000863" cy="732632"/>
          </a:xfrm>
          <a:prstGeom prst="rect">
            <a:avLst/>
          </a:prstGeom>
          <a:solidFill>
            <a:srgbClr val="0055A0"/>
          </a:solidFill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C09980B-3A95-7CEB-6E41-9062673C40DD}"/>
              </a:ext>
            </a:extLst>
          </p:cNvPr>
          <p:cNvSpPr/>
          <p:nvPr userDrawn="1"/>
        </p:nvSpPr>
        <p:spPr>
          <a:xfrm>
            <a:off x="0" y="0"/>
            <a:ext cx="1199663" cy="6858000"/>
          </a:xfrm>
          <a:prstGeom prst="rect">
            <a:avLst/>
          </a:prstGeom>
          <a:solidFill>
            <a:srgbClr val="0055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平行四辺形 9">
            <a:extLst>
              <a:ext uri="{FF2B5EF4-FFF2-40B4-BE49-F238E27FC236}">
                <a16:creationId xmlns:a16="http://schemas.microsoft.com/office/drawing/2014/main" id="{CE8D2E18-0C35-25D3-64C4-CDF1171D6866}"/>
              </a:ext>
            </a:extLst>
          </p:cNvPr>
          <p:cNvSpPr/>
          <p:nvPr userDrawn="1"/>
        </p:nvSpPr>
        <p:spPr>
          <a:xfrm>
            <a:off x="104775" y="0"/>
            <a:ext cx="3533097" cy="6858000"/>
          </a:xfrm>
          <a:prstGeom prst="parallelogram">
            <a:avLst/>
          </a:prstGeom>
          <a:solidFill>
            <a:srgbClr val="0055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81786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08B06415-47FA-63CD-6303-54912CF9B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596"/>
          <a:stretch/>
        </p:blipFill>
        <p:spPr>
          <a:xfrm>
            <a:off x="8758084" y="180196"/>
            <a:ext cx="3433916" cy="4494458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455186B0-3C5D-63AD-9124-865C2F3A6E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7649" y="2474259"/>
            <a:ext cx="7200000" cy="918229"/>
          </a:xfrm>
          <a:prstGeom prst="rect">
            <a:avLst/>
          </a:prstGeom>
        </p:spPr>
        <p:txBody>
          <a:bodyPr wrap="none" lIns="0" anchor="t"/>
          <a:lstStyle>
            <a:lvl1pPr>
              <a:lnSpc>
                <a:spcPct val="110000"/>
              </a:lnSpc>
              <a:spcAft>
                <a:spcPts val="600"/>
              </a:spcAft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DD0ED2EF-BF91-7CD0-4BC4-D686E8B7BB6B}"/>
              </a:ext>
            </a:extLst>
          </p:cNvPr>
          <p:cNvSpPr txBox="1">
            <a:spLocks/>
          </p:cNvSpPr>
          <p:nvPr userDrawn="1"/>
        </p:nvSpPr>
        <p:spPr>
          <a:xfrm>
            <a:off x="6946694" y="6307132"/>
            <a:ext cx="5140531" cy="36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 2" pitchFamily="18" charset="2"/>
              <a:buNone/>
              <a:defRPr kumimoji="1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rgbClr val="0055A0"/>
                </a:solidFill>
                <a:effectLst/>
                <a:uLnTx/>
                <a:uFillTx/>
                <a:latin typeface="+mn-lt"/>
                <a:ea typeface="メイリオ"/>
                <a:cs typeface="Segoe UI" panose="020B0502040204020203" pitchFamily="34" charset="0"/>
              </a:rPr>
              <a:t>Presentation by TOMAS TECH CO., LTD.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37A9FF8-660F-DE49-5CF8-F64B0146CFB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649" y="427704"/>
            <a:ext cx="3000863" cy="732632"/>
          </a:xfrm>
          <a:prstGeom prst="rect">
            <a:avLst/>
          </a:prstGeom>
          <a:solidFill>
            <a:srgbClr val="0055A0"/>
          </a:solidFill>
        </p:spPr>
      </p:pic>
      <p:sp>
        <p:nvSpPr>
          <p:cNvPr id="4" name="直方体 3">
            <a:extLst>
              <a:ext uri="{FF2B5EF4-FFF2-40B4-BE49-F238E27FC236}">
                <a16:creationId xmlns:a16="http://schemas.microsoft.com/office/drawing/2014/main" id="{D3DA494E-07EA-AEF9-CABA-37C15701F5F7}"/>
              </a:ext>
            </a:extLst>
          </p:cNvPr>
          <p:cNvSpPr/>
          <p:nvPr userDrawn="1"/>
        </p:nvSpPr>
        <p:spPr>
          <a:xfrm rot="419668" flipH="1">
            <a:off x="8497605" y="4849366"/>
            <a:ext cx="1187881" cy="1187881"/>
          </a:xfrm>
          <a:prstGeom prst="cube">
            <a:avLst/>
          </a:prstGeom>
          <a:solidFill>
            <a:srgbClr val="D6B700"/>
          </a:solidFill>
          <a:ln>
            <a:noFill/>
          </a:ln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003B7B1-0482-122F-81E4-2592DC5623CA}"/>
              </a:ext>
            </a:extLst>
          </p:cNvPr>
          <p:cNvSpPr/>
          <p:nvPr userDrawn="1"/>
        </p:nvSpPr>
        <p:spPr>
          <a:xfrm>
            <a:off x="377649" y="3465513"/>
            <a:ext cx="7200000" cy="92208"/>
          </a:xfrm>
          <a:prstGeom prst="rect">
            <a:avLst/>
          </a:prstGeom>
          <a:gradFill flip="none" rotWithShape="1">
            <a:gsLst>
              <a:gs pos="0">
                <a:srgbClr val="C9E5FF"/>
              </a:gs>
              <a:gs pos="50000">
                <a:srgbClr val="0055A0"/>
              </a:gs>
              <a:gs pos="95000">
                <a:srgbClr val="0055A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9140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280D912-9BDC-F8DA-B6E0-24D0F83070C6}"/>
              </a:ext>
            </a:extLst>
          </p:cNvPr>
          <p:cNvSpPr/>
          <p:nvPr userDrawn="1"/>
        </p:nvSpPr>
        <p:spPr>
          <a:xfrm>
            <a:off x="227013" y="188913"/>
            <a:ext cx="11737975" cy="6480175"/>
          </a:xfrm>
          <a:prstGeom prst="roundRect">
            <a:avLst>
              <a:gd name="adj" fmla="val 3107"/>
            </a:avLst>
          </a:prstGeom>
          <a:gradFill>
            <a:gsLst>
              <a:gs pos="0">
                <a:srgbClr val="00AAE8"/>
              </a:gs>
              <a:gs pos="53100">
                <a:srgbClr val="0055A0"/>
              </a:gs>
              <a:gs pos="100000">
                <a:srgbClr val="0055A0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378B3C3-0501-8EEA-E478-C4C09954F39A}"/>
              </a:ext>
            </a:extLst>
          </p:cNvPr>
          <p:cNvSpPr/>
          <p:nvPr userDrawn="1"/>
        </p:nvSpPr>
        <p:spPr>
          <a:xfrm>
            <a:off x="-104774" y="-400050"/>
            <a:ext cx="8867774" cy="21050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kumimoji="1" lang="en-US" altLang="ja-JP" sz="16600" b="1" dirty="0">
                <a:solidFill>
                  <a:schemeClr val="bg1">
                    <a:alpha val="20000"/>
                  </a:schemeClr>
                </a:solidFill>
              </a:rPr>
              <a:t>AGENDA</a:t>
            </a:r>
            <a:endParaRPr kumimoji="1" lang="ja-JP" altLang="en-US" sz="9600" b="1" dirty="0">
              <a:solidFill>
                <a:schemeClr val="bg1">
                  <a:alpha val="20000"/>
                </a:schemeClr>
              </a:solidFill>
            </a:endParaRP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1166DCC6-25E6-B43A-4753-F28878787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3105418"/>
            <a:ext cx="5838094" cy="6471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628650" indent="-62865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3600" b="1">
                <a:solidFill>
                  <a:schemeClr val="bg1"/>
                </a:solidFill>
                <a:latin typeface="+mn-lt"/>
                <a:ea typeface="+mn-ea"/>
              </a:defRPr>
            </a:lvl1pPr>
            <a:lvl2pPr marL="4572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9144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716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8288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 dirty="0"/>
              <a:t>キーメッセージ</a:t>
            </a:r>
          </a:p>
        </p:txBody>
      </p:sp>
    </p:spTree>
    <p:extLst>
      <p:ext uri="{BB962C8B-B14F-4D97-AF65-F5344CB8AC3E}">
        <p14:creationId xmlns:p14="http://schemas.microsoft.com/office/powerpoint/2010/main" val="2642028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bg>
      <p:bgPr>
        <a:gradFill flip="none" rotWithShape="1">
          <a:gsLst>
            <a:gs pos="0">
              <a:srgbClr val="00AAE8"/>
            </a:gs>
            <a:gs pos="53100">
              <a:srgbClr val="0055A0"/>
            </a:gs>
            <a:gs pos="100000">
              <a:srgbClr val="0055A0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280D912-9BDC-F8DA-B6E0-24D0F83070C6}"/>
              </a:ext>
            </a:extLst>
          </p:cNvPr>
          <p:cNvSpPr/>
          <p:nvPr userDrawn="1"/>
        </p:nvSpPr>
        <p:spPr>
          <a:xfrm>
            <a:off x="227013" y="188913"/>
            <a:ext cx="11737975" cy="6480175"/>
          </a:xfrm>
          <a:prstGeom prst="roundRect">
            <a:avLst>
              <a:gd name="adj" fmla="val 310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BCE99D3D-13EF-01AC-588B-9D438AF16D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8888"/>
            <a:ext cx="10515600" cy="1800224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110000"/>
              </a:lnSpc>
              <a:spcAft>
                <a:spcPts val="600"/>
              </a:spcAft>
              <a:defRPr sz="7200" b="1">
                <a:gradFill>
                  <a:gsLst>
                    <a:gs pos="0">
                      <a:srgbClr val="00AAE8"/>
                    </a:gs>
                    <a:gs pos="53100">
                      <a:srgbClr val="0055A0"/>
                    </a:gs>
                    <a:gs pos="100000">
                      <a:srgbClr val="0055A0"/>
                    </a:gs>
                  </a:gsLst>
                  <a:lin ang="2700000" scaled="1"/>
                </a:gradFill>
                <a:latin typeface="+mn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6168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会社説明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35720" y="0"/>
            <a:ext cx="4586288" cy="6858000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4500563" cy="6858000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3984748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DE966B7-2B2D-26D7-D50D-15C0A560CD0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14" r="21787"/>
          <a:stretch/>
        </p:blipFill>
        <p:spPr>
          <a:xfrm>
            <a:off x="4622008" y="0"/>
            <a:ext cx="7569992" cy="6858000"/>
          </a:xfrm>
          <a:prstGeom prst="rect">
            <a:avLst/>
          </a:prstGeom>
        </p:spPr>
      </p:pic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5851F0E5-2B68-46D3-CA04-EA0A7D97B82C}"/>
              </a:ext>
            </a:extLst>
          </p:cNvPr>
          <p:cNvSpPr txBox="1">
            <a:spLocks/>
          </p:cNvSpPr>
          <p:nvPr userDrawn="1"/>
        </p:nvSpPr>
        <p:spPr>
          <a:xfrm>
            <a:off x="11250126" y="6439804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rPr>
              <a:pPr/>
              <a:t>‹#›</a:t>
            </a:fld>
            <a:endParaRPr kumimoji="1" lang="ja-JP" altLang="en-US" sz="1800" dirty="0">
              <a:solidFill>
                <a:schemeClr val="bg1"/>
              </a:solidFill>
              <a:latin typeface="+mn-lt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2510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会社説明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5F7F5B3-8C7E-29FD-3909-613459C423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4" r="18457"/>
          <a:stretch/>
        </p:blipFill>
        <p:spPr>
          <a:xfrm>
            <a:off x="4622007" y="0"/>
            <a:ext cx="7569993" cy="68580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35720" y="0"/>
            <a:ext cx="4586288" cy="6858000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4500563" cy="6858000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3984748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D35D4C3E-6A0D-8258-4B8E-5499A5C29B6E}"/>
              </a:ext>
            </a:extLst>
          </p:cNvPr>
          <p:cNvSpPr txBox="1">
            <a:spLocks/>
          </p:cNvSpPr>
          <p:nvPr userDrawn="1"/>
        </p:nvSpPr>
        <p:spPr>
          <a:xfrm>
            <a:off x="11250126" y="6439804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rPr>
              <a:pPr/>
              <a:t>‹#›</a:t>
            </a:fld>
            <a:endParaRPr kumimoji="1" lang="ja-JP" altLang="en-US" sz="1800" dirty="0">
              <a:solidFill>
                <a:schemeClr val="bg1"/>
              </a:solidFill>
              <a:latin typeface="+mn-lt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4314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480AC4FF-11BF-0AD4-2E40-E26F5862492A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j-ea"/>
                <a:cs typeface="Arial" panose="020B0604020202020204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j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693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rgbClr val="EF7D0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480AC4FF-11BF-0AD4-2E40-E26F5862492A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j-ea"/>
                <a:cs typeface="Arial" panose="020B0604020202020204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j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7774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rgbClr val="009C7C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480AC4FF-11BF-0AD4-2E40-E26F5862492A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j-ea"/>
                <a:cs typeface="Arial" panose="020B0604020202020204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j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8116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＋キー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094550AA-CD8F-8953-E322-D63BDC658C5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908" y="922338"/>
            <a:ext cx="11676186" cy="369781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1800" b="1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  <a:lvl2pPr marL="4572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9144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716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8288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 dirty="0"/>
              <a:t>キーメッセージ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1056B774-DD0D-918A-7C03-62D8E1354A21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n-ea"/>
                <a:cs typeface="Segoe UI" panose="020B0502040204020203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9769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5851F0E5-2B68-46D3-CA04-EA0A7D97B82C}"/>
              </a:ext>
            </a:extLst>
          </p:cNvPr>
          <p:cNvSpPr txBox="1">
            <a:spLocks/>
          </p:cNvSpPr>
          <p:nvPr userDrawn="1"/>
        </p:nvSpPr>
        <p:spPr>
          <a:xfrm>
            <a:off x="11250126" y="6439804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rPr>
              <a:pPr/>
              <a:t>‹#›</a:t>
            </a:fld>
            <a:endParaRPr kumimoji="1" lang="ja-JP" altLang="en-US" sz="18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1733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3FDEDD4-6BDD-7639-A04F-44AEE999B7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227013" y="649288"/>
            <a:ext cx="6019800" cy="6019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BBF2B0F-478D-ADC7-A6CF-7AB837A2ACE5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0DE16FF-473F-1EFD-4713-DDA039A13C4A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5632468C-98B3-A1CC-D49A-CC69E5A3D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8" name="スライド番号プレースホルダー 4">
            <a:extLst>
              <a:ext uri="{FF2B5EF4-FFF2-40B4-BE49-F238E27FC236}">
                <a16:creationId xmlns:a16="http://schemas.microsoft.com/office/drawing/2014/main" id="{963A5CCE-324B-F4A0-8FB1-8527F77EC00F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j-ea"/>
                <a:cs typeface="Arial" panose="020B0604020202020204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j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03495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7370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7" r:id="rId4"/>
    <p:sldLayoutId id="2147483655" r:id="rId5"/>
    <p:sldLayoutId id="2147483650" r:id="rId6"/>
    <p:sldLayoutId id="2147483651" r:id="rId7"/>
    <p:sldLayoutId id="2147483649" r:id="rId8"/>
    <p:sldLayoutId id="2147483765" r:id="rId9"/>
    <p:sldLayoutId id="2147483766" r:id="rId10"/>
    <p:sldLayoutId id="2147483652" r:id="rId11"/>
    <p:sldLayoutId id="2147483656" r:id="rId12"/>
    <p:sldLayoutId id="214748365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537" userDrawn="1">
          <p15:clr>
            <a:srgbClr val="A4A3A4"/>
          </p15:clr>
        </p15:guide>
        <p15:guide id="4" pos="143" userDrawn="1">
          <p15:clr>
            <a:srgbClr val="A4A3A4"/>
          </p15:clr>
        </p15:guide>
        <p15:guide id="5" orient="horz" pos="4201" userDrawn="1">
          <p15:clr>
            <a:srgbClr val="A4A3A4"/>
          </p15:clr>
        </p15:guide>
        <p15:guide id="6" orient="horz" pos="119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hyperlink" Target="https://nbviewer.org/github/jiramethtmt/predictive-maintenance-time-series/blob/main/notebooks/01_eda_scania_component_x.ipynb" TargetMode="External"/><Relationship Id="rId3" Type="http://schemas.openxmlformats.org/officeDocument/2006/relationships/hyperlink" Target="https://github.com/jiramethtmt/predictive-maintenance-time-series" TargetMode="External"/><Relationship Id="rId4" Type="http://schemas.openxmlformats.org/officeDocument/2006/relationships/hyperlink" Target="https://doi.org/10.5878/jvb5-d39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2D9A1-55F7-8F11-6416-17959FA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84ECFC-FFBD-8122-FEFD-00AA1CA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latin typeface="Segoe UI"/>
                <a:ea typeface="Segoe UI"/>
                <a:cs typeface="Segoe UI"/>
              </a:rPr>
              <a:t>Predicting component failure</a:t>
            </a:r>
            <a:endParaRPr lang="ja-JP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3611880"/>
            <a:ext cx="8961120" cy="364715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Calling trucks into the workshop before the part fails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SCANIA Component X, 33,000 trucks, IDA 2024 challenge cost matrix. Three-seed result.</a:t>
            </a:r>
          </a:p>
        </p:txBody>
      </p:sp>
    </p:spTree>
    <p:extLst>
      <p:ext uri="{BB962C8B-B14F-4D97-AF65-F5344CB8AC3E}">
        <p14:creationId xmlns:p14="http://schemas.microsoft.com/office/powerpoint/2010/main" val="4022291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9ECEC-0BF9-059D-7F1C-0764E6AF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the model is asked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One truck, one decision.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093976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1031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What we predict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039112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How close the monitored component is to failure, using only the readouts that truck has already sent home.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00200" y="2898648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3282696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319272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328415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What comes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26440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An action, not a score: call this truck in, or leave it running. Five classes, class 4 is 0 to 6 steps from failure.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00200" y="4123944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4507992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544568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455371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What makes it hard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489704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Only 2.7% of the fleet is at risk. The rest are healthy and must not be disturbed.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00200" y="5349240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81601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accuracy is the wrong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economics pick the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5166360" cy="15544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1031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591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Missing a failure costs 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79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The truck fails in service. This is the number the whole design is built around.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2512" y="2103120"/>
            <a:ext cx="5166360" cy="15544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031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23591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wasted check costs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2926079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A workshop inspection that finds nothing is cheap by comparison.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31920"/>
            <a:ext cx="5166360" cy="15544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9319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1879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One catch pays for 50 alarms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754880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Low precision is correct here. Optimising precision on this loss destroys value.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2512" y="3931920"/>
            <a:ext cx="5166360" cy="15544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1879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Doing nothing scores 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4754880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A model graded on accuracy predicts healthy for everyone and saves nothing.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80BD27-BBEF-EFB9-B3CC-34406DB50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907" y="109409"/>
            <a:ext cx="10515600" cy="481490"/>
          </a:xfrm>
        </p:spPr>
        <p:txBody>
          <a:bodyPr/>
          <a:lstStyle/>
          <a:p>
            <a:r>
              <a:rPr lang="en-US" altLang="ja-JP" i="1" dirty="0">
                <a:latin typeface="+mj-ea"/>
                <a:ea typeface="+mj-ea"/>
                <a:cs typeface="+mj-ea"/>
              </a:rPr>
              <a:t>Contact us</a:t>
            </a:r>
            <a:endParaRPr lang="ja-JP" altLang="en-US" dirty="0"/>
          </a:p>
        </p:txBody>
      </p:sp>
      <p:sp>
        <p:nvSpPr>
          <p:cNvPr id="12" name="TextBox 53">
            <a:extLst>
              <a:ext uri="{FF2B5EF4-FFF2-40B4-BE49-F238E27FC236}">
                <a16:creationId xmlns:a16="http://schemas.microsoft.com/office/drawing/2014/main" id="{B8467FAC-72B8-8FC4-C138-93E327F090C2}"/>
              </a:ext>
            </a:extLst>
          </p:cNvPr>
          <p:cNvSpPr txBox="1"/>
          <p:nvPr/>
        </p:nvSpPr>
        <p:spPr>
          <a:xfrm>
            <a:off x="1371658" y="1421987"/>
            <a:ext cx="2275816" cy="31200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info@tomastc.com</a:t>
            </a:r>
          </a:p>
        </p:txBody>
      </p:sp>
      <p:sp>
        <p:nvSpPr>
          <p:cNvPr id="13" name="TextBox 58">
            <a:extLst>
              <a:ext uri="{FF2B5EF4-FFF2-40B4-BE49-F238E27FC236}">
                <a16:creationId xmlns:a16="http://schemas.microsoft.com/office/drawing/2014/main" id="{F4DEE9DD-88AF-4E85-5F4E-4629418992E4}"/>
              </a:ext>
            </a:extLst>
          </p:cNvPr>
          <p:cNvSpPr txBox="1"/>
          <p:nvPr/>
        </p:nvSpPr>
        <p:spPr>
          <a:xfrm>
            <a:off x="1371658" y="2278662"/>
            <a:ext cx="3292568" cy="114300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TH/EN   : +66-81-012-6064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JP /EN   </a:t>
            </a:r>
            <a:r>
              <a:rPr lang="en-GB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: +66-94-552-3097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VN / EN : +84-90-322-2209</a:t>
            </a:r>
          </a:p>
        </p:txBody>
      </p:sp>
      <p:sp>
        <p:nvSpPr>
          <p:cNvPr id="14" name="TextBox 59">
            <a:extLst>
              <a:ext uri="{FF2B5EF4-FFF2-40B4-BE49-F238E27FC236}">
                <a16:creationId xmlns:a16="http://schemas.microsoft.com/office/drawing/2014/main" id="{C5F544AB-A49C-8D62-CA75-FA0D8827766C}"/>
              </a:ext>
            </a:extLst>
          </p:cNvPr>
          <p:cNvSpPr txBox="1"/>
          <p:nvPr/>
        </p:nvSpPr>
        <p:spPr>
          <a:xfrm>
            <a:off x="1371658" y="4094602"/>
            <a:ext cx="1620765" cy="31200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altLang="ja-JP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TOMAS</a:t>
            </a:r>
            <a:r>
              <a:rPr lang="ja-JP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</a:t>
            </a:r>
            <a:r>
              <a:rPr lang="en-US" altLang="ja-JP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TECH</a:t>
            </a:r>
            <a:endParaRPr lang="en-US" sz="2000" b="1" dirty="0">
              <a:solidFill>
                <a:schemeClr val="tx1">
                  <a:lumMod val="85000"/>
                  <a:lumOff val="15000"/>
                </a:schemeClr>
              </a:solidFill>
              <a:ea typeface="Fira Sans SemiBold Italic" panose="00000700000000000000" pitchFamily="50" charset="0"/>
              <a:cs typeface="Clear Sans Light" panose="020B0303030202020304" pitchFamily="34" charset="0"/>
              <a:sym typeface="Open Sans Light" charset="0"/>
            </a:endParaRPr>
          </a:p>
        </p:txBody>
      </p:sp>
      <p:sp>
        <p:nvSpPr>
          <p:cNvPr id="15" name="TextBox 60">
            <a:extLst>
              <a:ext uri="{FF2B5EF4-FFF2-40B4-BE49-F238E27FC236}">
                <a16:creationId xmlns:a16="http://schemas.microsoft.com/office/drawing/2014/main" id="{DB73C7F6-621C-A955-08AB-8331ED4B81D8}"/>
              </a:ext>
            </a:extLst>
          </p:cNvPr>
          <p:cNvSpPr txBox="1"/>
          <p:nvPr/>
        </p:nvSpPr>
        <p:spPr>
          <a:xfrm>
            <a:off x="1371658" y="5215595"/>
            <a:ext cx="3030188" cy="31200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http://www.tomastc.com</a:t>
            </a:r>
          </a:p>
        </p:txBody>
      </p:sp>
      <p:sp>
        <p:nvSpPr>
          <p:cNvPr id="18" name="TextBox 60">
            <a:extLst>
              <a:ext uri="{FF2B5EF4-FFF2-40B4-BE49-F238E27FC236}">
                <a16:creationId xmlns:a16="http://schemas.microsoft.com/office/drawing/2014/main" id="{74981D09-2347-93BD-FA42-B6D05F3D43E4}"/>
              </a:ext>
            </a:extLst>
          </p:cNvPr>
          <p:cNvSpPr txBox="1"/>
          <p:nvPr/>
        </p:nvSpPr>
        <p:spPr>
          <a:xfrm>
            <a:off x="5209999" y="1252263"/>
            <a:ext cx="5385611" cy="3120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b="1" dirty="0">
                <a:solidFill>
                  <a:schemeClr val="accent1"/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TOMAS TECH CO., LTD. (Head Office)</a:t>
            </a: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389BC9D7-4937-C1A0-8F50-BE46EEBD879A}"/>
              </a:ext>
            </a:extLst>
          </p:cNvPr>
          <p:cNvGrpSpPr/>
          <p:nvPr/>
        </p:nvGrpSpPr>
        <p:grpSpPr>
          <a:xfrm>
            <a:off x="430846" y="1254419"/>
            <a:ext cx="647145" cy="647145"/>
            <a:chOff x="905631" y="1557572"/>
            <a:chExt cx="647145" cy="647145"/>
          </a:xfrm>
        </p:grpSpPr>
        <p:sp>
          <p:nvSpPr>
            <p:cNvPr id="5" name="Shape 987">
              <a:extLst>
                <a:ext uri="{FF2B5EF4-FFF2-40B4-BE49-F238E27FC236}">
                  <a16:creationId xmlns:a16="http://schemas.microsoft.com/office/drawing/2014/main" id="{9DC68F48-E860-298E-3252-357D57549193}"/>
                </a:ext>
              </a:extLst>
            </p:cNvPr>
            <p:cNvSpPr/>
            <p:nvPr/>
          </p:nvSpPr>
          <p:spPr>
            <a:xfrm>
              <a:off x="905631" y="1557572"/>
              <a:ext cx="647145" cy="647145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lvl="0">
                <a:defRPr sz="3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9" name="Freeform 92">
              <a:extLst>
                <a:ext uri="{FF2B5EF4-FFF2-40B4-BE49-F238E27FC236}">
                  <a16:creationId xmlns:a16="http://schemas.microsoft.com/office/drawing/2014/main" id="{F6FAFB23-FB91-25AA-8641-33DF256F56A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82979" y="1786911"/>
              <a:ext cx="292448" cy="188466"/>
            </a:xfrm>
            <a:custGeom>
              <a:avLst/>
              <a:gdLst>
                <a:gd name="T0" fmla="*/ 89 w 95"/>
                <a:gd name="T1" fmla="*/ 0 h 61"/>
                <a:gd name="T2" fmla="*/ 5 w 95"/>
                <a:gd name="T3" fmla="*/ 0 h 61"/>
                <a:gd name="T4" fmla="*/ 1 w 95"/>
                <a:gd name="T5" fmla="*/ 1 h 61"/>
                <a:gd name="T6" fmla="*/ 0 w 95"/>
                <a:gd name="T7" fmla="*/ 5 h 61"/>
                <a:gd name="T8" fmla="*/ 45 w 95"/>
                <a:gd name="T9" fmla="*/ 39 h 61"/>
                <a:gd name="T10" fmla="*/ 47 w 95"/>
                <a:gd name="T11" fmla="*/ 40 h 61"/>
                <a:gd name="T12" fmla="*/ 50 w 95"/>
                <a:gd name="T13" fmla="*/ 39 h 61"/>
                <a:gd name="T14" fmla="*/ 95 w 95"/>
                <a:gd name="T15" fmla="*/ 5 h 61"/>
                <a:gd name="T16" fmla="*/ 93 w 95"/>
                <a:gd name="T17" fmla="*/ 1 h 61"/>
                <a:gd name="T18" fmla="*/ 89 w 95"/>
                <a:gd name="T19" fmla="*/ 0 h 61"/>
                <a:gd name="T20" fmla="*/ 95 w 95"/>
                <a:gd name="T21" fmla="*/ 50 h 61"/>
                <a:gd name="T22" fmla="*/ 70 w 95"/>
                <a:gd name="T23" fmla="*/ 30 h 61"/>
                <a:gd name="T24" fmla="*/ 95 w 95"/>
                <a:gd name="T25" fmla="*/ 11 h 61"/>
                <a:gd name="T26" fmla="*/ 95 w 95"/>
                <a:gd name="T27" fmla="*/ 50 h 61"/>
                <a:gd name="T28" fmla="*/ 93 w 95"/>
                <a:gd name="T29" fmla="*/ 60 h 61"/>
                <a:gd name="T30" fmla="*/ 89 w 95"/>
                <a:gd name="T31" fmla="*/ 61 h 61"/>
                <a:gd name="T32" fmla="*/ 5 w 95"/>
                <a:gd name="T33" fmla="*/ 61 h 61"/>
                <a:gd name="T34" fmla="*/ 1 w 95"/>
                <a:gd name="T35" fmla="*/ 60 h 61"/>
                <a:gd name="T36" fmla="*/ 0 w 95"/>
                <a:gd name="T37" fmla="*/ 56 h 61"/>
                <a:gd name="T38" fmla="*/ 29 w 95"/>
                <a:gd name="T39" fmla="*/ 34 h 61"/>
                <a:gd name="T40" fmla="*/ 43 w 95"/>
                <a:gd name="T41" fmla="*/ 44 h 61"/>
                <a:gd name="T42" fmla="*/ 47 w 95"/>
                <a:gd name="T43" fmla="*/ 45 h 61"/>
                <a:gd name="T44" fmla="*/ 52 w 95"/>
                <a:gd name="T45" fmla="*/ 44 h 61"/>
                <a:gd name="T46" fmla="*/ 66 w 95"/>
                <a:gd name="T47" fmla="*/ 34 h 61"/>
                <a:gd name="T48" fmla="*/ 95 w 95"/>
                <a:gd name="T49" fmla="*/ 56 h 61"/>
                <a:gd name="T50" fmla="*/ 93 w 95"/>
                <a:gd name="T51" fmla="*/ 60 h 61"/>
                <a:gd name="T52" fmla="*/ 0 w 95"/>
                <a:gd name="T53" fmla="*/ 11 h 61"/>
                <a:gd name="T54" fmla="*/ 25 w 95"/>
                <a:gd name="T55" fmla="*/ 30 h 61"/>
                <a:gd name="T56" fmla="*/ 0 w 95"/>
                <a:gd name="T57" fmla="*/ 50 h 61"/>
                <a:gd name="T58" fmla="*/ 0 w 95"/>
                <a:gd name="T59" fmla="*/ 1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5" h="61">
                  <a:moveTo>
                    <a:pt x="89" y="0"/>
                  </a:move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2" y="0"/>
                    <a:pt x="1" y="1"/>
                  </a:cubicBezTo>
                  <a:cubicBezTo>
                    <a:pt x="0" y="2"/>
                    <a:pt x="0" y="4"/>
                    <a:pt x="0" y="5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40"/>
                    <a:pt x="46" y="40"/>
                    <a:pt x="47" y="40"/>
                  </a:cubicBezTo>
                  <a:cubicBezTo>
                    <a:pt x="48" y="40"/>
                    <a:pt x="49" y="40"/>
                    <a:pt x="50" y="39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4"/>
                    <a:pt x="94" y="2"/>
                    <a:pt x="93" y="1"/>
                  </a:cubicBezTo>
                  <a:cubicBezTo>
                    <a:pt x="92" y="0"/>
                    <a:pt x="91" y="0"/>
                    <a:pt x="89" y="0"/>
                  </a:cubicBezTo>
                  <a:close/>
                  <a:moveTo>
                    <a:pt x="95" y="50"/>
                  </a:moveTo>
                  <a:cubicBezTo>
                    <a:pt x="70" y="30"/>
                    <a:pt x="70" y="30"/>
                    <a:pt x="70" y="30"/>
                  </a:cubicBezTo>
                  <a:cubicBezTo>
                    <a:pt x="95" y="11"/>
                    <a:pt x="95" y="11"/>
                    <a:pt x="95" y="11"/>
                  </a:cubicBezTo>
                  <a:cubicBezTo>
                    <a:pt x="95" y="50"/>
                    <a:pt x="95" y="50"/>
                    <a:pt x="95" y="50"/>
                  </a:cubicBezTo>
                  <a:close/>
                  <a:moveTo>
                    <a:pt x="93" y="60"/>
                  </a:moveTo>
                  <a:cubicBezTo>
                    <a:pt x="92" y="61"/>
                    <a:pt x="91" y="61"/>
                    <a:pt x="89" y="61"/>
                  </a:cubicBezTo>
                  <a:cubicBezTo>
                    <a:pt x="5" y="61"/>
                    <a:pt x="5" y="61"/>
                    <a:pt x="5" y="61"/>
                  </a:cubicBezTo>
                  <a:cubicBezTo>
                    <a:pt x="4" y="61"/>
                    <a:pt x="2" y="61"/>
                    <a:pt x="1" y="60"/>
                  </a:cubicBezTo>
                  <a:cubicBezTo>
                    <a:pt x="0" y="59"/>
                    <a:pt x="0" y="57"/>
                    <a:pt x="0" y="56"/>
                  </a:cubicBezTo>
                  <a:cubicBezTo>
                    <a:pt x="29" y="34"/>
                    <a:pt x="29" y="34"/>
                    <a:pt x="29" y="34"/>
                  </a:cubicBezTo>
                  <a:cubicBezTo>
                    <a:pt x="43" y="44"/>
                    <a:pt x="43" y="44"/>
                    <a:pt x="43" y="44"/>
                  </a:cubicBezTo>
                  <a:cubicBezTo>
                    <a:pt x="44" y="45"/>
                    <a:pt x="46" y="45"/>
                    <a:pt x="47" y="45"/>
                  </a:cubicBezTo>
                  <a:cubicBezTo>
                    <a:pt x="49" y="45"/>
                    <a:pt x="50" y="45"/>
                    <a:pt x="52" y="44"/>
                  </a:cubicBezTo>
                  <a:cubicBezTo>
                    <a:pt x="66" y="34"/>
                    <a:pt x="66" y="34"/>
                    <a:pt x="66" y="34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5" y="57"/>
                    <a:pt x="94" y="59"/>
                    <a:pt x="93" y="60"/>
                  </a:cubicBezTo>
                  <a:close/>
                  <a:moveTo>
                    <a:pt x="0" y="11"/>
                  </a:moveTo>
                  <a:cubicBezTo>
                    <a:pt x="25" y="30"/>
                    <a:pt x="25" y="30"/>
                    <a:pt x="25" y="30"/>
                  </a:cubicBezTo>
                  <a:cubicBezTo>
                    <a:pt x="0" y="50"/>
                    <a:pt x="0" y="50"/>
                    <a:pt x="0" y="50"/>
                  </a:cubicBezTo>
                  <a:lnTo>
                    <a:pt x="0" y="1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4C54F04-CD37-A81C-2A8E-29AB4E7A2527}"/>
              </a:ext>
            </a:extLst>
          </p:cNvPr>
          <p:cNvGrpSpPr/>
          <p:nvPr/>
        </p:nvGrpSpPr>
        <p:grpSpPr>
          <a:xfrm>
            <a:off x="430846" y="2516089"/>
            <a:ext cx="647145" cy="647145"/>
            <a:chOff x="905631" y="2599733"/>
            <a:chExt cx="647145" cy="647145"/>
          </a:xfrm>
        </p:grpSpPr>
        <p:sp>
          <p:nvSpPr>
            <p:cNvPr id="6" name="Shape 990">
              <a:extLst>
                <a:ext uri="{FF2B5EF4-FFF2-40B4-BE49-F238E27FC236}">
                  <a16:creationId xmlns:a16="http://schemas.microsoft.com/office/drawing/2014/main" id="{AA3CFD20-2267-D043-FBDE-55965017E357}"/>
                </a:ext>
              </a:extLst>
            </p:cNvPr>
            <p:cNvSpPr/>
            <p:nvPr/>
          </p:nvSpPr>
          <p:spPr>
            <a:xfrm>
              <a:off x="905631" y="2599733"/>
              <a:ext cx="647145" cy="647145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lvl="0">
                <a:defRPr sz="3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31389189-C9E5-2D4B-5374-AEFED82697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4834" y="2796887"/>
              <a:ext cx="248739" cy="252836"/>
            </a:xfrm>
            <a:custGeom>
              <a:avLst/>
              <a:gdLst>
                <a:gd name="T0" fmla="*/ 21097 w 21108"/>
                <a:gd name="T1" fmla="*/ 16603 h 20969"/>
                <a:gd name="T2" fmla="*/ 17551 w 21108"/>
                <a:gd name="T3" fmla="*/ 14553 h 20969"/>
                <a:gd name="T4" fmla="*/ 13359 w 21108"/>
                <a:gd name="T5" fmla="*/ 14553 h 20969"/>
                <a:gd name="T6" fmla="*/ 13359 w 21108"/>
                <a:gd name="T7" fmla="*/ 14553 h 20969"/>
                <a:gd name="T8" fmla="*/ 13198 w 21108"/>
                <a:gd name="T9" fmla="*/ 15026 h 20969"/>
                <a:gd name="T10" fmla="*/ 13198 w 21108"/>
                <a:gd name="T11" fmla="*/ 15026 h 20969"/>
                <a:gd name="T12" fmla="*/ 13198 w 21108"/>
                <a:gd name="T13" fmla="*/ 15026 h 20969"/>
                <a:gd name="T14" fmla="*/ 12876 w 21108"/>
                <a:gd name="T15" fmla="*/ 15972 h 20969"/>
                <a:gd name="T16" fmla="*/ 13037 w 21108"/>
                <a:gd name="T17" fmla="*/ 16288 h 20969"/>
                <a:gd name="T18" fmla="*/ 11264 w 21108"/>
                <a:gd name="T19" fmla="*/ 15657 h 20969"/>
                <a:gd name="T20" fmla="*/ 8362 w 21108"/>
                <a:gd name="T21" fmla="*/ 12819 h 20969"/>
                <a:gd name="T22" fmla="*/ 5300 w 21108"/>
                <a:gd name="T23" fmla="*/ 9508 h 20969"/>
                <a:gd name="T24" fmla="*/ 4816 w 21108"/>
                <a:gd name="T25" fmla="*/ 7774 h 20969"/>
                <a:gd name="T26" fmla="*/ 5461 w 21108"/>
                <a:gd name="T27" fmla="*/ 7616 h 20969"/>
                <a:gd name="T28" fmla="*/ 5783 w 21108"/>
                <a:gd name="T29" fmla="*/ 7459 h 20969"/>
                <a:gd name="T30" fmla="*/ 6589 w 21108"/>
                <a:gd name="T31" fmla="*/ 7143 h 20969"/>
                <a:gd name="T32" fmla="*/ 6589 w 21108"/>
                <a:gd name="T33" fmla="*/ 6986 h 20969"/>
                <a:gd name="T34" fmla="*/ 6589 w 21108"/>
                <a:gd name="T35" fmla="*/ 6986 h 20969"/>
                <a:gd name="T36" fmla="*/ 7234 w 21108"/>
                <a:gd name="T37" fmla="*/ 6828 h 20969"/>
                <a:gd name="T38" fmla="*/ 7234 w 21108"/>
                <a:gd name="T39" fmla="*/ 6828 h 20969"/>
                <a:gd name="T40" fmla="*/ 6267 w 21108"/>
                <a:gd name="T41" fmla="*/ 2886 h 20969"/>
                <a:gd name="T42" fmla="*/ 3365 w 21108"/>
                <a:gd name="T43" fmla="*/ 48 h 20969"/>
                <a:gd name="T44" fmla="*/ 3365 w 21108"/>
                <a:gd name="T45" fmla="*/ 48 h 20969"/>
                <a:gd name="T46" fmla="*/ 3365 w 21108"/>
                <a:gd name="T47" fmla="*/ 48 h 20969"/>
                <a:gd name="T48" fmla="*/ 3365 w 21108"/>
                <a:gd name="T49" fmla="*/ 48 h 20969"/>
                <a:gd name="T50" fmla="*/ 2882 w 21108"/>
                <a:gd name="T51" fmla="*/ 206 h 20969"/>
                <a:gd name="T52" fmla="*/ 2882 w 21108"/>
                <a:gd name="T53" fmla="*/ 206 h 20969"/>
                <a:gd name="T54" fmla="*/ 2721 w 21108"/>
                <a:gd name="T55" fmla="*/ 206 h 20969"/>
                <a:gd name="T56" fmla="*/ 1915 w 21108"/>
                <a:gd name="T57" fmla="*/ 679 h 20969"/>
                <a:gd name="T58" fmla="*/ 1754 w 21108"/>
                <a:gd name="T59" fmla="*/ 994 h 20969"/>
                <a:gd name="T60" fmla="*/ 142 w 21108"/>
                <a:gd name="T61" fmla="*/ 5251 h 20969"/>
                <a:gd name="T62" fmla="*/ 5945 w 21108"/>
                <a:gd name="T63" fmla="*/ 14869 h 20969"/>
                <a:gd name="T64" fmla="*/ 15777 w 21108"/>
                <a:gd name="T65" fmla="*/ 20860 h 20969"/>
                <a:gd name="T66" fmla="*/ 20452 w 21108"/>
                <a:gd name="T67" fmla="*/ 18337 h 20969"/>
                <a:gd name="T68" fmla="*/ 20613 w 21108"/>
                <a:gd name="T69" fmla="*/ 18180 h 20969"/>
                <a:gd name="T70" fmla="*/ 20774 w 21108"/>
                <a:gd name="T71" fmla="*/ 17234 h 20969"/>
                <a:gd name="T72" fmla="*/ 20936 w 21108"/>
                <a:gd name="T73" fmla="*/ 17234 h 20969"/>
                <a:gd name="T74" fmla="*/ 20774 w 21108"/>
                <a:gd name="T75" fmla="*/ 17234 h 20969"/>
                <a:gd name="T76" fmla="*/ 21097 w 21108"/>
                <a:gd name="T77" fmla="*/ 16603 h 20969"/>
                <a:gd name="T78" fmla="*/ 21097 w 21108"/>
                <a:gd name="T79" fmla="*/ 16603 h 20969"/>
                <a:gd name="T80" fmla="*/ 3527 w 21108"/>
                <a:gd name="T81" fmla="*/ 364 h 20969"/>
                <a:gd name="T82" fmla="*/ 5945 w 21108"/>
                <a:gd name="T83" fmla="*/ 3044 h 20969"/>
                <a:gd name="T84" fmla="*/ 6912 w 21108"/>
                <a:gd name="T85" fmla="*/ 6355 h 20969"/>
                <a:gd name="T86" fmla="*/ 4655 w 21108"/>
                <a:gd name="T87" fmla="*/ 3675 h 20969"/>
                <a:gd name="T88" fmla="*/ 3527 w 21108"/>
                <a:gd name="T89" fmla="*/ 364 h 20969"/>
                <a:gd name="T90" fmla="*/ 17067 w 21108"/>
                <a:gd name="T91" fmla="*/ 16288 h 20969"/>
                <a:gd name="T92" fmla="*/ 13843 w 21108"/>
                <a:gd name="T93" fmla="*/ 14553 h 20969"/>
                <a:gd name="T94" fmla="*/ 17389 w 21108"/>
                <a:gd name="T95" fmla="*/ 14869 h 20969"/>
                <a:gd name="T96" fmla="*/ 20613 w 21108"/>
                <a:gd name="T97" fmla="*/ 16603 h 20969"/>
                <a:gd name="T98" fmla="*/ 17067 w 21108"/>
                <a:gd name="T99" fmla="*/ 16288 h 20969"/>
                <a:gd name="T100" fmla="*/ 17067 w 21108"/>
                <a:gd name="T101" fmla="*/ 16288 h 209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21108" h="20969">
                  <a:moveTo>
                    <a:pt x="21097" y="16603"/>
                  </a:moveTo>
                  <a:cubicBezTo>
                    <a:pt x="21258" y="16130"/>
                    <a:pt x="19646" y="15026"/>
                    <a:pt x="17551" y="14553"/>
                  </a:cubicBezTo>
                  <a:cubicBezTo>
                    <a:pt x="15455" y="13923"/>
                    <a:pt x="13521" y="13923"/>
                    <a:pt x="13359" y="14553"/>
                  </a:cubicBezTo>
                  <a:cubicBezTo>
                    <a:pt x="13359" y="14553"/>
                    <a:pt x="13359" y="14553"/>
                    <a:pt x="13359" y="14553"/>
                  </a:cubicBezTo>
                  <a:cubicBezTo>
                    <a:pt x="13359" y="14553"/>
                    <a:pt x="13359" y="14711"/>
                    <a:pt x="13198" y="15026"/>
                  </a:cubicBezTo>
                  <a:cubicBezTo>
                    <a:pt x="13198" y="15026"/>
                    <a:pt x="13198" y="15026"/>
                    <a:pt x="13198" y="15026"/>
                  </a:cubicBezTo>
                  <a:cubicBezTo>
                    <a:pt x="13198" y="15026"/>
                    <a:pt x="13198" y="15026"/>
                    <a:pt x="13198" y="15026"/>
                  </a:cubicBezTo>
                  <a:cubicBezTo>
                    <a:pt x="13198" y="15342"/>
                    <a:pt x="13037" y="15815"/>
                    <a:pt x="12876" y="15972"/>
                  </a:cubicBezTo>
                  <a:cubicBezTo>
                    <a:pt x="12876" y="16130"/>
                    <a:pt x="12876" y="16130"/>
                    <a:pt x="13037" y="16288"/>
                  </a:cubicBezTo>
                  <a:cubicBezTo>
                    <a:pt x="12392" y="16288"/>
                    <a:pt x="11748" y="16130"/>
                    <a:pt x="11264" y="15657"/>
                  </a:cubicBezTo>
                  <a:cubicBezTo>
                    <a:pt x="8362" y="12819"/>
                    <a:pt x="8362" y="12819"/>
                    <a:pt x="8362" y="12819"/>
                  </a:cubicBezTo>
                  <a:cubicBezTo>
                    <a:pt x="5300" y="9508"/>
                    <a:pt x="5300" y="9508"/>
                    <a:pt x="5300" y="9508"/>
                  </a:cubicBezTo>
                  <a:cubicBezTo>
                    <a:pt x="4816" y="9035"/>
                    <a:pt x="4655" y="8405"/>
                    <a:pt x="4816" y="7774"/>
                  </a:cubicBezTo>
                  <a:cubicBezTo>
                    <a:pt x="4977" y="7616"/>
                    <a:pt x="5300" y="7616"/>
                    <a:pt x="5461" y="7616"/>
                  </a:cubicBezTo>
                  <a:cubicBezTo>
                    <a:pt x="5622" y="7616"/>
                    <a:pt x="5783" y="7616"/>
                    <a:pt x="5783" y="7459"/>
                  </a:cubicBezTo>
                  <a:cubicBezTo>
                    <a:pt x="5945" y="7459"/>
                    <a:pt x="6428" y="7301"/>
                    <a:pt x="6589" y="7143"/>
                  </a:cubicBezTo>
                  <a:cubicBezTo>
                    <a:pt x="6589" y="7143"/>
                    <a:pt x="6589" y="7143"/>
                    <a:pt x="6589" y="6986"/>
                  </a:cubicBezTo>
                  <a:cubicBezTo>
                    <a:pt x="6589" y="6986"/>
                    <a:pt x="6589" y="6986"/>
                    <a:pt x="6589" y="6986"/>
                  </a:cubicBezTo>
                  <a:cubicBezTo>
                    <a:pt x="6912" y="6986"/>
                    <a:pt x="7234" y="6828"/>
                    <a:pt x="7234" y="6828"/>
                  </a:cubicBezTo>
                  <a:cubicBezTo>
                    <a:pt x="7234" y="6828"/>
                    <a:pt x="7234" y="6828"/>
                    <a:pt x="7234" y="6828"/>
                  </a:cubicBezTo>
                  <a:cubicBezTo>
                    <a:pt x="7718" y="6513"/>
                    <a:pt x="7395" y="4778"/>
                    <a:pt x="6267" y="2886"/>
                  </a:cubicBezTo>
                  <a:cubicBezTo>
                    <a:pt x="5139" y="994"/>
                    <a:pt x="3849" y="-267"/>
                    <a:pt x="3365" y="48"/>
                  </a:cubicBezTo>
                  <a:cubicBezTo>
                    <a:pt x="3365" y="48"/>
                    <a:pt x="3365" y="48"/>
                    <a:pt x="3365" y="48"/>
                  </a:cubicBezTo>
                  <a:cubicBezTo>
                    <a:pt x="3365" y="48"/>
                    <a:pt x="3365" y="48"/>
                    <a:pt x="3365" y="48"/>
                  </a:cubicBezTo>
                  <a:cubicBezTo>
                    <a:pt x="3365" y="48"/>
                    <a:pt x="3365" y="48"/>
                    <a:pt x="3365" y="48"/>
                  </a:cubicBezTo>
                  <a:cubicBezTo>
                    <a:pt x="3365" y="48"/>
                    <a:pt x="3043" y="48"/>
                    <a:pt x="2882" y="206"/>
                  </a:cubicBezTo>
                  <a:cubicBezTo>
                    <a:pt x="2882" y="206"/>
                    <a:pt x="2882" y="206"/>
                    <a:pt x="2882" y="206"/>
                  </a:cubicBezTo>
                  <a:cubicBezTo>
                    <a:pt x="2882" y="206"/>
                    <a:pt x="2882" y="206"/>
                    <a:pt x="2721" y="206"/>
                  </a:cubicBezTo>
                  <a:cubicBezTo>
                    <a:pt x="2559" y="364"/>
                    <a:pt x="2076" y="679"/>
                    <a:pt x="1915" y="679"/>
                  </a:cubicBezTo>
                  <a:cubicBezTo>
                    <a:pt x="1915" y="837"/>
                    <a:pt x="1754" y="837"/>
                    <a:pt x="1754" y="994"/>
                  </a:cubicBezTo>
                  <a:cubicBezTo>
                    <a:pt x="464" y="2098"/>
                    <a:pt x="-342" y="3832"/>
                    <a:pt x="142" y="5251"/>
                  </a:cubicBezTo>
                  <a:cubicBezTo>
                    <a:pt x="303" y="7932"/>
                    <a:pt x="2559" y="11400"/>
                    <a:pt x="5945" y="14869"/>
                  </a:cubicBezTo>
                  <a:cubicBezTo>
                    <a:pt x="9330" y="18337"/>
                    <a:pt x="13037" y="20545"/>
                    <a:pt x="15777" y="20860"/>
                  </a:cubicBezTo>
                  <a:cubicBezTo>
                    <a:pt x="17551" y="21333"/>
                    <a:pt x="19324" y="20229"/>
                    <a:pt x="20452" y="18337"/>
                  </a:cubicBezTo>
                  <a:cubicBezTo>
                    <a:pt x="20452" y="18337"/>
                    <a:pt x="20613" y="18180"/>
                    <a:pt x="20613" y="18180"/>
                  </a:cubicBezTo>
                  <a:cubicBezTo>
                    <a:pt x="20613" y="18022"/>
                    <a:pt x="20774" y="17549"/>
                    <a:pt x="20774" y="17234"/>
                  </a:cubicBezTo>
                  <a:cubicBezTo>
                    <a:pt x="20774" y="17234"/>
                    <a:pt x="20774" y="17234"/>
                    <a:pt x="20936" y="17234"/>
                  </a:cubicBezTo>
                  <a:cubicBezTo>
                    <a:pt x="20774" y="17234"/>
                    <a:pt x="20774" y="17234"/>
                    <a:pt x="20774" y="17234"/>
                  </a:cubicBezTo>
                  <a:cubicBezTo>
                    <a:pt x="20936" y="16918"/>
                    <a:pt x="20936" y="16761"/>
                    <a:pt x="21097" y="16603"/>
                  </a:cubicBezTo>
                  <a:cubicBezTo>
                    <a:pt x="21097" y="16603"/>
                    <a:pt x="21097" y="16603"/>
                    <a:pt x="21097" y="16603"/>
                  </a:cubicBezTo>
                  <a:close/>
                  <a:moveTo>
                    <a:pt x="3527" y="364"/>
                  </a:moveTo>
                  <a:cubicBezTo>
                    <a:pt x="3849" y="364"/>
                    <a:pt x="4816" y="1152"/>
                    <a:pt x="5945" y="3044"/>
                  </a:cubicBezTo>
                  <a:cubicBezTo>
                    <a:pt x="7073" y="4936"/>
                    <a:pt x="7073" y="6197"/>
                    <a:pt x="6912" y="6355"/>
                  </a:cubicBezTo>
                  <a:cubicBezTo>
                    <a:pt x="6751" y="6355"/>
                    <a:pt x="5622" y="5567"/>
                    <a:pt x="4655" y="3675"/>
                  </a:cubicBezTo>
                  <a:cubicBezTo>
                    <a:pt x="3527" y="1783"/>
                    <a:pt x="3365" y="521"/>
                    <a:pt x="3527" y="364"/>
                  </a:cubicBezTo>
                  <a:close/>
                  <a:moveTo>
                    <a:pt x="17067" y="16288"/>
                  </a:moveTo>
                  <a:cubicBezTo>
                    <a:pt x="14810" y="15657"/>
                    <a:pt x="13843" y="14869"/>
                    <a:pt x="13843" y="14553"/>
                  </a:cubicBezTo>
                  <a:cubicBezTo>
                    <a:pt x="14004" y="14396"/>
                    <a:pt x="15294" y="14238"/>
                    <a:pt x="17389" y="14869"/>
                  </a:cubicBezTo>
                  <a:cubicBezTo>
                    <a:pt x="19485" y="15499"/>
                    <a:pt x="20613" y="16288"/>
                    <a:pt x="20613" y="16603"/>
                  </a:cubicBezTo>
                  <a:cubicBezTo>
                    <a:pt x="20452" y="16761"/>
                    <a:pt x="19001" y="16918"/>
                    <a:pt x="17067" y="16288"/>
                  </a:cubicBezTo>
                  <a:close/>
                  <a:moveTo>
                    <a:pt x="17067" y="16288"/>
                  </a:move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14:hiddenLine>
              </a:ext>
            </a:extLst>
          </p:spPr>
          <p:txBody>
            <a:bodyPr lIns="0" tIns="0" rIns="0" bIns="0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05DAD355-3364-2459-1E96-9B0D333CF686}"/>
              </a:ext>
            </a:extLst>
          </p:cNvPr>
          <p:cNvGrpSpPr/>
          <p:nvPr/>
        </p:nvGrpSpPr>
        <p:grpSpPr>
          <a:xfrm>
            <a:off x="430846" y="3927034"/>
            <a:ext cx="647145" cy="647145"/>
            <a:chOff x="905631" y="3694908"/>
            <a:chExt cx="647145" cy="647145"/>
          </a:xfrm>
        </p:grpSpPr>
        <p:sp>
          <p:nvSpPr>
            <p:cNvPr id="7" name="Shape 998">
              <a:extLst>
                <a:ext uri="{FF2B5EF4-FFF2-40B4-BE49-F238E27FC236}">
                  <a16:creationId xmlns:a16="http://schemas.microsoft.com/office/drawing/2014/main" id="{C85202DF-77CF-F473-0C94-44821CFA95AC}"/>
                </a:ext>
              </a:extLst>
            </p:cNvPr>
            <p:cNvSpPr/>
            <p:nvPr/>
          </p:nvSpPr>
          <p:spPr>
            <a:xfrm>
              <a:off x="905631" y="3694908"/>
              <a:ext cx="647145" cy="647145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lvl="0">
                <a:defRPr sz="3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1" name="Freeform 32">
              <a:extLst>
                <a:ext uri="{FF2B5EF4-FFF2-40B4-BE49-F238E27FC236}">
                  <a16:creationId xmlns:a16="http://schemas.microsoft.com/office/drawing/2014/main" id="{2FA19C22-E75C-9866-E5FA-6E53F01DD40C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6993" y="3885073"/>
              <a:ext cx="124420" cy="266815"/>
            </a:xfrm>
            <a:custGeom>
              <a:avLst/>
              <a:gdLst>
                <a:gd name="T0" fmla="*/ 209 w 21600"/>
                <a:gd name="T1" fmla="*/ 144 h 21600"/>
                <a:gd name="T2" fmla="*/ 139 w 21600"/>
                <a:gd name="T3" fmla="*/ 144 h 21600"/>
                <a:gd name="T4" fmla="*/ 139 w 21600"/>
                <a:gd name="T5" fmla="*/ 98 h 21600"/>
                <a:gd name="T6" fmla="*/ 158 w 21600"/>
                <a:gd name="T7" fmla="*/ 77 h 21600"/>
                <a:gd name="T8" fmla="*/ 209 w 21600"/>
                <a:gd name="T9" fmla="*/ 77 h 21600"/>
                <a:gd name="T10" fmla="*/ 209 w 21600"/>
                <a:gd name="T11" fmla="*/ 0 h 21600"/>
                <a:gd name="T12" fmla="*/ 139 w 21600"/>
                <a:gd name="T13" fmla="*/ 0 h 21600"/>
                <a:gd name="T14" fmla="*/ 46 w 21600"/>
                <a:gd name="T15" fmla="*/ 93 h 21600"/>
                <a:gd name="T16" fmla="*/ 46 w 21600"/>
                <a:gd name="T17" fmla="*/ 144 h 21600"/>
                <a:gd name="T18" fmla="*/ 0 w 21600"/>
                <a:gd name="T19" fmla="*/ 144 h 21600"/>
                <a:gd name="T20" fmla="*/ 0 w 21600"/>
                <a:gd name="T21" fmla="*/ 223 h 21600"/>
                <a:gd name="T22" fmla="*/ 46 w 21600"/>
                <a:gd name="T23" fmla="*/ 223 h 21600"/>
                <a:gd name="T24" fmla="*/ 46 w 21600"/>
                <a:gd name="T25" fmla="*/ 448 h 21600"/>
                <a:gd name="T26" fmla="*/ 139 w 21600"/>
                <a:gd name="T27" fmla="*/ 448 h 21600"/>
                <a:gd name="T28" fmla="*/ 139 w 21600"/>
                <a:gd name="T29" fmla="*/ 223 h 21600"/>
                <a:gd name="T30" fmla="*/ 202 w 21600"/>
                <a:gd name="T31" fmla="*/ 223 h 21600"/>
                <a:gd name="T32" fmla="*/ 209 w 21600"/>
                <a:gd name="T33" fmla="*/ 144 h 21600"/>
                <a:gd name="T34" fmla="*/ 209 w 21600"/>
                <a:gd name="T35" fmla="*/ 144 h 21600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21600" h="21600">
                  <a:moveTo>
                    <a:pt x="21600" y="6939"/>
                  </a:moveTo>
                  <a:cubicBezTo>
                    <a:pt x="14400" y="6939"/>
                    <a:pt x="14400" y="6939"/>
                    <a:pt x="14400" y="6939"/>
                  </a:cubicBezTo>
                  <a:cubicBezTo>
                    <a:pt x="14400" y="4701"/>
                    <a:pt x="14400" y="4701"/>
                    <a:pt x="14400" y="4701"/>
                  </a:cubicBezTo>
                  <a:cubicBezTo>
                    <a:pt x="14400" y="3917"/>
                    <a:pt x="15600" y="3693"/>
                    <a:pt x="16320" y="3693"/>
                  </a:cubicBezTo>
                  <a:cubicBezTo>
                    <a:pt x="17280" y="3693"/>
                    <a:pt x="21600" y="3693"/>
                    <a:pt x="21600" y="3693"/>
                  </a:cubicBezTo>
                  <a:cubicBezTo>
                    <a:pt x="21600" y="0"/>
                    <a:pt x="21600" y="0"/>
                    <a:pt x="21600" y="0"/>
                  </a:cubicBezTo>
                  <a:cubicBezTo>
                    <a:pt x="14400" y="0"/>
                    <a:pt x="14400" y="0"/>
                    <a:pt x="14400" y="0"/>
                  </a:cubicBezTo>
                  <a:cubicBezTo>
                    <a:pt x="6480" y="0"/>
                    <a:pt x="4800" y="2686"/>
                    <a:pt x="4800" y="4477"/>
                  </a:cubicBezTo>
                  <a:cubicBezTo>
                    <a:pt x="4800" y="6939"/>
                    <a:pt x="4800" y="6939"/>
                    <a:pt x="4800" y="6939"/>
                  </a:cubicBezTo>
                  <a:cubicBezTo>
                    <a:pt x="0" y="6939"/>
                    <a:pt x="0" y="6939"/>
                    <a:pt x="0" y="6939"/>
                  </a:cubicBezTo>
                  <a:cubicBezTo>
                    <a:pt x="0" y="10744"/>
                    <a:pt x="0" y="10744"/>
                    <a:pt x="0" y="10744"/>
                  </a:cubicBezTo>
                  <a:cubicBezTo>
                    <a:pt x="4800" y="10744"/>
                    <a:pt x="4800" y="10744"/>
                    <a:pt x="4800" y="10744"/>
                  </a:cubicBezTo>
                  <a:cubicBezTo>
                    <a:pt x="4800" y="15668"/>
                    <a:pt x="4800" y="21600"/>
                    <a:pt x="4800" y="21600"/>
                  </a:cubicBezTo>
                  <a:cubicBezTo>
                    <a:pt x="14400" y="21600"/>
                    <a:pt x="14400" y="21600"/>
                    <a:pt x="14400" y="21600"/>
                  </a:cubicBezTo>
                  <a:cubicBezTo>
                    <a:pt x="14400" y="21600"/>
                    <a:pt x="14400" y="15556"/>
                    <a:pt x="14400" y="10744"/>
                  </a:cubicBezTo>
                  <a:cubicBezTo>
                    <a:pt x="20880" y="10744"/>
                    <a:pt x="20880" y="10744"/>
                    <a:pt x="20880" y="10744"/>
                  </a:cubicBezTo>
                  <a:lnTo>
                    <a:pt x="21600" y="6939"/>
                  </a:lnTo>
                  <a:close/>
                  <a:moveTo>
                    <a:pt x="21600" y="6939"/>
                  </a:move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14:hiddenLine>
              </a:ext>
            </a:extLst>
          </p:spPr>
          <p:txBody>
            <a:bodyPr lIns="0" tIns="0" rIns="0" bIns="0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7766AB4-93EF-B3FC-40DA-0C51C3D66129}"/>
              </a:ext>
            </a:extLst>
          </p:cNvPr>
          <p:cNvGrpSpPr/>
          <p:nvPr/>
        </p:nvGrpSpPr>
        <p:grpSpPr>
          <a:xfrm>
            <a:off x="430846" y="5048027"/>
            <a:ext cx="647145" cy="647145"/>
            <a:chOff x="905631" y="4692860"/>
            <a:chExt cx="647145" cy="647145"/>
          </a:xfrm>
        </p:grpSpPr>
        <p:sp>
          <p:nvSpPr>
            <p:cNvPr id="8" name="Shape 1001">
              <a:extLst>
                <a:ext uri="{FF2B5EF4-FFF2-40B4-BE49-F238E27FC236}">
                  <a16:creationId xmlns:a16="http://schemas.microsoft.com/office/drawing/2014/main" id="{397207B0-29D0-3C19-6010-29F0DDA59538}"/>
                </a:ext>
              </a:extLst>
            </p:cNvPr>
            <p:cNvSpPr/>
            <p:nvPr/>
          </p:nvSpPr>
          <p:spPr>
            <a:xfrm>
              <a:off x="905631" y="4692860"/>
              <a:ext cx="647145" cy="647145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lvl="0">
                <a:defRPr sz="3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8BD74C81-B0DE-DE98-E0E7-069997DFD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2562" y="4858524"/>
              <a:ext cx="360932" cy="315816"/>
            </a:xfrm>
            <a:prstGeom prst="rect">
              <a:avLst/>
            </a:prstGeom>
          </p:spPr>
        </p:pic>
      </p:grpSp>
      <p:pic>
        <p:nvPicPr>
          <p:cNvPr id="17" name="図 16">
            <a:extLst>
              <a:ext uri="{FF2B5EF4-FFF2-40B4-BE49-F238E27FC236}">
                <a16:creationId xmlns:a16="http://schemas.microsoft.com/office/drawing/2014/main" id="{24F6F256-27EC-D6D7-7F6B-2946360A0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8823" y="3557670"/>
            <a:ext cx="6910394" cy="3245590"/>
          </a:xfrm>
          <a:prstGeom prst="rect">
            <a:avLst/>
          </a:prstGeom>
        </p:spPr>
      </p:pic>
      <p:sp>
        <p:nvSpPr>
          <p:cNvPr id="21" name="TextBox 60">
            <a:extLst>
              <a:ext uri="{FF2B5EF4-FFF2-40B4-BE49-F238E27FC236}">
                <a16:creationId xmlns:a16="http://schemas.microsoft.com/office/drawing/2014/main" id="{7EFCDF27-2FA1-CC8A-3ACA-E06C09755B17}"/>
              </a:ext>
            </a:extLst>
          </p:cNvPr>
          <p:cNvSpPr txBox="1"/>
          <p:nvPr/>
        </p:nvSpPr>
        <p:spPr>
          <a:xfrm>
            <a:off x="6177903" y="1487999"/>
            <a:ext cx="5385611" cy="5012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No.1 MD Tower 16Fl, Unit C1, Soi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Bangna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-Trad 25,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Debaratna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Rd.,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Khwaeng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Bang Na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Nuea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, Khet Bang Na, Bangkok 10260 Thailand.</a:t>
            </a:r>
          </a:p>
        </p:txBody>
      </p:sp>
      <p:sp>
        <p:nvSpPr>
          <p:cNvPr id="23" name="四角形: 対角を切り取る 22">
            <a:extLst>
              <a:ext uri="{FF2B5EF4-FFF2-40B4-BE49-F238E27FC236}">
                <a16:creationId xmlns:a16="http://schemas.microsoft.com/office/drawing/2014/main" id="{FF784049-C4C5-7C1F-68AD-49B286193974}"/>
              </a:ext>
            </a:extLst>
          </p:cNvPr>
          <p:cNvSpPr/>
          <p:nvPr/>
        </p:nvSpPr>
        <p:spPr>
          <a:xfrm flipH="1">
            <a:off x="5205185" y="1623139"/>
            <a:ext cx="795118" cy="230955"/>
          </a:xfrm>
          <a:prstGeom prst="snip2DiagRect">
            <a:avLst/>
          </a:prstGeom>
          <a:gradFill flip="none" rotWithShape="1">
            <a:gsLst>
              <a:gs pos="0">
                <a:srgbClr val="00AAE8"/>
              </a:gs>
              <a:gs pos="53100">
                <a:srgbClr val="0055A0"/>
              </a:gs>
              <a:gs pos="100000">
                <a:srgbClr val="0055A0"/>
              </a:gs>
            </a:gsLst>
            <a:lin ang="8100000" scaled="1"/>
            <a:tileRect/>
          </a:gradFill>
          <a:ln>
            <a:noFill/>
          </a:ln>
          <a:effectLst>
            <a:outerShdw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kumimoji="1" lang="ja-JP" altLang="en-US" sz="1200" b="1" dirty="0">
                <a:solidFill>
                  <a:schemeClr val="bg1"/>
                </a:solidFill>
              </a:rPr>
              <a:t>Address</a:t>
            </a:r>
          </a:p>
        </p:txBody>
      </p:sp>
      <p:sp>
        <p:nvSpPr>
          <p:cNvPr id="29" name="TextBox 60">
            <a:extLst>
              <a:ext uri="{FF2B5EF4-FFF2-40B4-BE49-F238E27FC236}">
                <a16:creationId xmlns:a16="http://schemas.microsoft.com/office/drawing/2014/main" id="{080D3604-94A6-E2A1-D545-ABF847B8A13C}"/>
              </a:ext>
            </a:extLst>
          </p:cNvPr>
          <p:cNvSpPr txBox="1"/>
          <p:nvPr/>
        </p:nvSpPr>
        <p:spPr>
          <a:xfrm>
            <a:off x="5209999" y="2066391"/>
            <a:ext cx="5385611" cy="3120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b="1" dirty="0">
                <a:solidFill>
                  <a:srgbClr val="EF7D00"/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TOMAS TECH CO., LTD. (Factory)</a:t>
            </a:r>
          </a:p>
        </p:txBody>
      </p:sp>
      <p:sp>
        <p:nvSpPr>
          <p:cNvPr id="30" name="TextBox 60">
            <a:extLst>
              <a:ext uri="{FF2B5EF4-FFF2-40B4-BE49-F238E27FC236}">
                <a16:creationId xmlns:a16="http://schemas.microsoft.com/office/drawing/2014/main" id="{F76711A0-3C7F-DE84-7512-E39714DD4171}"/>
              </a:ext>
            </a:extLst>
          </p:cNvPr>
          <p:cNvSpPr txBox="1"/>
          <p:nvPr/>
        </p:nvSpPr>
        <p:spPr>
          <a:xfrm>
            <a:off x="6177903" y="2302127"/>
            <a:ext cx="5385611" cy="5012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No. 11, Soi On Nut 65, Intersection 9,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Khwaeng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Prawet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Prawet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, Bangkok 10250 Thailand.</a:t>
            </a:r>
          </a:p>
        </p:txBody>
      </p:sp>
      <p:sp>
        <p:nvSpPr>
          <p:cNvPr id="31" name="四角形: 対角を切り取る 30">
            <a:extLst>
              <a:ext uri="{FF2B5EF4-FFF2-40B4-BE49-F238E27FC236}">
                <a16:creationId xmlns:a16="http://schemas.microsoft.com/office/drawing/2014/main" id="{D0BFB636-29D0-3651-120A-02587C9E3E18}"/>
              </a:ext>
            </a:extLst>
          </p:cNvPr>
          <p:cNvSpPr/>
          <p:nvPr/>
        </p:nvSpPr>
        <p:spPr>
          <a:xfrm flipH="1">
            <a:off x="5205185" y="2437267"/>
            <a:ext cx="795118" cy="230955"/>
          </a:xfrm>
          <a:prstGeom prst="snip2DiagRect">
            <a:avLst/>
          </a:prstGeom>
          <a:gradFill flip="none" rotWithShape="1">
            <a:gsLst>
              <a:gs pos="0">
                <a:srgbClr val="F7B14D">
                  <a:lumMod val="87000"/>
                  <a:lumOff val="13000"/>
                </a:srgbClr>
              </a:gs>
              <a:gs pos="53100">
                <a:srgbClr val="EE7700"/>
              </a:gs>
              <a:gs pos="100000">
                <a:srgbClr val="EF8822"/>
              </a:gs>
            </a:gsLst>
            <a:lin ang="8100000" scaled="1"/>
            <a:tileRect/>
          </a:gradFill>
          <a:ln>
            <a:noFill/>
          </a:ln>
          <a:effectLst>
            <a:outerShdw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kumimoji="1" lang="ja-JP" altLang="en-US" sz="1200" b="1" dirty="0">
                <a:solidFill>
                  <a:schemeClr val="bg1"/>
                </a:solidFill>
              </a:rPr>
              <a:t>Address</a:t>
            </a:r>
          </a:p>
        </p:txBody>
      </p:sp>
      <p:sp>
        <p:nvSpPr>
          <p:cNvPr id="34" name="TextBox 60">
            <a:extLst>
              <a:ext uri="{FF2B5EF4-FFF2-40B4-BE49-F238E27FC236}">
                <a16:creationId xmlns:a16="http://schemas.microsoft.com/office/drawing/2014/main" id="{6D3E0BDA-ACB6-2348-4F15-8B760C54CDC8}"/>
              </a:ext>
            </a:extLst>
          </p:cNvPr>
          <p:cNvSpPr txBox="1"/>
          <p:nvPr/>
        </p:nvSpPr>
        <p:spPr>
          <a:xfrm>
            <a:off x="5173917" y="2853246"/>
            <a:ext cx="5385611" cy="3120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b="1" dirty="0">
                <a:solidFill>
                  <a:srgbClr val="009C7C"/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TOMAS TECH VIETNAM COMPANY LIMITED</a:t>
            </a:r>
          </a:p>
        </p:txBody>
      </p:sp>
      <p:sp>
        <p:nvSpPr>
          <p:cNvPr id="35" name="TextBox 60">
            <a:extLst>
              <a:ext uri="{FF2B5EF4-FFF2-40B4-BE49-F238E27FC236}">
                <a16:creationId xmlns:a16="http://schemas.microsoft.com/office/drawing/2014/main" id="{BC179985-3B91-13F9-129A-8DD400D3B221}"/>
              </a:ext>
            </a:extLst>
          </p:cNvPr>
          <p:cNvSpPr txBox="1"/>
          <p:nvPr/>
        </p:nvSpPr>
        <p:spPr>
          <a:xfrm>
            <a:off x="6141821" y="3088982"/>
            <a:ext cx="5385611" cy="5012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6th Floor,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Sacombank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Building, No. 35 Luong Dinh Cua, Kim Lien Ward, Hanoi City, Vietnam.</a:t>
            </a:r>
          </a:p>
        </p:txBody>
      </p:sp>
      <p:sp>
        <p:nvSpPr>
          <p:cNvPr id="36" name="四角形: 対角を切り取る 35">
            <a:extLst>
              <a:ext uri="{FF2B5EF4-FFF2-40B4-BE49-F238E27FC236}">
                <a16:creationId xmlns:a16="http://schemas.microsoft.com/office/drawing/2014/main" id="{1FB3A323-B00A-8D8D-D9FC-D5084B82D5E0}"/>
              </a:ext>
            </a:extLst>
          </p:cNvPr>
          <p:cNvSpPr/>
          <p:nvPr/>
        </p:nvSpPr>
        <p:spPr>
          <a:xfrm flipH="1">
            <a:off x="5169103" y="3224122"/>
            <a:ext cx="795118" cy="230955"/>
          </a:xfrm>
          <a:prstGeom prst="snip2DiagRect">
            <a:avLst/>
          </a:prstGeom>
          <a:gradFill flip="none" rotWithShape="1">
            <a:gsLst>
              <a:gs pos="0">
                <a:srgbClr val="00B1A9">
                  <a:lumMod val="90000"/>
                  <a:lumOff val="10000"/>
                </a:srgbClr>
              </a:gs>
              <a:gs pos="53100">
                <a:srgbClr val="00B1A9">
                  <a:alpha val="98000"/>
                </a:srgbClr>
              </a:gs>
              <a:gs pos="100000">
                <a:srgbClr val="009C7C"/>
              </a:gs>
            </a:gsLst>
            <a:lin ang="8100000" scaled="1"/>
            <a:tileRect/>
          </a:gradFill>
          <a:ln>
            <a:noFill/>
          </a:ln>
          <a:effectLst>
            <a:outerShdw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kumimoji="1" lang="ja-JP" altLang="en-US" sz="1200" b="1" dirty="0">
                <a:solidFill>
                  <a:schemeClr val="bg1"/>
                </a:solidFill>
              </a:rPr>
              <a:t>Address</a:t>
            </a:r>
          </a:p>
        </p:txBody>
      </p:sp>
    </p:spTree>
    <p:extLst>
      <p:ext uri="{BB962C8B-B14F-4D97-AF65-F5344CB8AC3E}">
        <p14:creationId xmlns:p14="http://schemas.microsoft.com/office/powerpoint/2010/main" val="262929485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Total challenge cost on the 5,045-truck test set. Lower is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35,469 ±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Mean of three seeds. 29% cheaper than checking every truck, catching 77% of the at-risk fleet.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644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Our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3154680"/>
            <a:ext cx="3815629" cy="566928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4709" y="32735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35,469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873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Check every truck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3977639"/>
            <a:ext cx="5343430" cy="566928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2510" y="4096511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49,671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103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Act on the most likely class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4800600"/>
            <a:ext cx="6035040" cy="56692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04119" y="491947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56,100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Most-likely-class collapses onto doing nothing: at a 2.7% positive rate the likeliest class is always healthy.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that buys the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At the tuned operating point.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4114800" cy="3794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46304" cy="379476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catch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18688"/>
            <a:ext cx="3383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109 of 142 at-risk trucks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about 2,100 of 5,045 called in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33 trucks still missed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2194560"/>
            <a:ext cx="6355080" cy="111556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66360" y="2194560"/>
            <a:ext cx="128016" cy="1115568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2359152"/>
            <a:ext cx="5669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Where the saving comes from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272491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Not inspecting the other 2,900 trucks, while still reaching most of the ones that were going to fail.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3493008"/>
            <a:ext cx="6355080" cy="111556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60" y="3493008"/>
            <a:ext cx="128016" cy="1115568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3657600"/>
            <a:ext cx="5669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price of 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4023359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Checking all 5,045 catches every failure and costs 40% more than this model.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66360" y="4791456"/>
            <a:ext cx="6355080" cy="111556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60" y="4791456"/>
            <a:ext cx="128016" cy="1115568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4956048"/>
            <a:ext cx="5669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residual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5321808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Those 33 missed trucks are the honest cost of the model today, and where further work pays.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Against the published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Every result published on this benchmark, by total test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600200"/>
            <a:ext cx="9784080" cy="100584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00200"/>
            <a:ext cx="146304" cy="100584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180136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Our work, 35,469 ± 849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2402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AutoGluon LightGBM, cost-optimal decision rule, mean of three seeds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770632"/>
            <a:ext cx="9784080" cy="100584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770632"/>
            <a:ext cx="146304" cy="100584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2971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CatBoost, 36,724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4107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Same study's best test row, but not the model they selected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3941064"/>
            <a:ext cx="9784080" cy="100584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88720" y="3941064"/>
            <a:ext cx="146304" cy="100584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1640" y="41422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XGBoost, 37,733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58114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The model the leading study selected. They used AutoGluon too, so the gap is protocol, not toolkit.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5111496"/>
            <a:ext cx="9784080" cy="100584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8720" y="5111496"/>
            <a:ext cx="146304" cy="100584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53126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Check every truck, 49,671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7515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The trivial baseline, level with Carpentier et 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the number is reportable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32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Protocol before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8972" y="2103120"/>
            <a:ext cx="27432" cy="3163824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03120"/>
            <a:ext cx="365760" cy="365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130551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1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Three seeds, not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A single run on this data moves by more than most of the improvements teams chase on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3035808"/>
            <a:ext cx="365760" cy="365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063239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17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noise floor was 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03580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Single-split tuning spread 1,668 across seeds. Pooling validation into training and tuning out-of-fold halved it to 849.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968496"/>
            <a:ext cx="365760" cy="365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995928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9502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A leakage audit found something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968496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A backward fill let a scoring point read its own future. Removing it moved a flattering 35,925 to an honest 39,379.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" y="4901183"/>
            <a:ext cx="365760" cy="365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492861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Test was scored once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901183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At the end, after every decision had been fixed on training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binding 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15 of the 142 at-risk test trucks sit in the top 100 by risk score.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32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Ranking, not thresholds.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603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cost win comes from alarming broadly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496312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The model raises about 2,100 alarms. It is not finding the failures sharply.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355848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39896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76472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785615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Under a daily cap of 100 trucks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72160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This model would find roughly one in ten failures, not eight in ten.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4581144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65192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001768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01091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Better ordering is the next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946904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That is a modelling problem, not more threshold tuning.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5806440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Running it for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Batch scoring on each upload cycle, not a real-time alarm.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2377440" cy="13258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13258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95728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3F7FC"/>
                </a:solidFill>
                <a:latin typeface="Segoe UI"/>
                <a:ea typeface="Segoe UI"/>
                <a:cs typeface="Segoe UI"/>
              </a:rPr>
              <a:t>New readouts arrive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2633472"/>
            <a:ext cx="292608" cy="274320"/>
          </a:xfrm>
          <a:prstGeom prst="rightArrow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2103120"/>
            <a:ext cx="2377440" cy="13258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2103120"/>
            <a:ext cx="109728" cy="13258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79" y="2395728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3F7FC"/>
                </a:solidFill>
                <a:latin typeface="Segoe UI"/>
                <a:ea typeface="Segoe UI"/>
                <a:cs typeface="Segoe UI"/>
              </a:rPr>
              <a:t>Features at the cut point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7608" y="2633472"/>
            <a:ext cx="292608" cy="274320"/>
          </a:xfrm>
          <a:prstGeom prst="rightArrow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2377440" cy="13258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103120"/>
            <a:ext cx="109728" cy="13258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395728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3F7FC"/>
                </a:solidFill>
                <a:latin typeface="Segoe UI"/>
                <a:ea typeface="Segoe UI"/>
                <a:cs typeface="Segoe UI"/>
              </a:rPr>
              <a:t>Risk and cost rule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87968" y="2633472"/>
            <a:ext cx="292608" cy="274320"/>
          </a:xfrm>
          <a:prstGeom prst="rightArrow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2103120"/>
            <a:ext cx="2377440" cy="13258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59" y="2103120"/>
            <a:ext cx="109728" cy="13258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9" y="2395728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3F7FC"/>
                </a:solidFill>
                <a:latin typeface="Segoe UI"/>
                <a:ea typeface="Segoe UI"/>
                <a:cs typeface="Segoe UI"/>
              </a:rPr>
              <a:t>Ranked work list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77639"/>
            <a:ext cx="10881360" cy="96012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977639"/>
            <a:ext cx="128016" cy="96012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133087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Every dispatched truck returns a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Found or not found feeds the next training round. Without that loop the model stops improving on day 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57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Two more things the rollout needs: the work list trimmed to what the workshop can absorb that day, and a reason a mechanic will accept, such as the counter that accelerated threefold over three cycles. Input drift is watched and retraining is scheduled, not incidental.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kind of model this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Discrete-time survival classification on panel data, not sequence forecasting.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5166360" cy="15544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History becomes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26079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The readouts up to a scoring point are compressed into one row, and a boosted tree predicts the degradation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2512" y="2103120"/>
            <a:ext cx="5166360" cy="15544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2512" y="21031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23591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Rates, not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2926079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The counters are cumulative and never reset, so wear speed over 3, 10 and 20 readout windows carries the signal.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166360" cy="15544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9319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1879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89% of outcomes are censored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754880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Most trucks never failed inside the window, which is why a survival framing beats a plain binary classifier.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2512" y="3931920"/>
            <a:ext cx="5166360" cy="15544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2512" y="39319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41879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Folds grouped by vehicle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4754880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Near-duplicate scoring points from one truck can never straddle a split.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Go deeper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The analysis behind these numbers.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0881360" cy="105156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146304" cy="105156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0312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55A0"/>
                </a:solidFill>
                <a:latin typeface="Segoe UI"/>
                <a:ea typeface="Segoe UI"/>
                <a:cs typeface="Segoe UI"/>
                <a:hlinkClick r:id="rId2"/>
              </a:rPr>
              <a:t>Open the full EDA notebook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420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https://nbviewer.org/github/jiramethtmt/predictive-maintenance-time-series/blob/main/notebooks/01_eda_scania_component_x.ipynb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0400"/>
            <a:ext cx="10881360" cy="105156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46304" cy="105156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38328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55A0"/>
                </a:solidFill>
                <a:latin typeface="Segoe UI"/>
                <a:ea typeface="Segoe UI"/>
                <a:cs typeface="Segoe UI"/>
                <a:hlinkClick r:id="rId3"/>
              </a:rPr>
              <a:t>Repository, code and reproduction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822191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https://github.com/jiramethtmt/predictive-maintenance-time-series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10881360" cy="105156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80560"/>
            <a:ext cx="146304" cy="105156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6344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55A0"/>
                </a:solidFill>
                <a:latin typeface="Segoe UI"/>
                <a:ea typeface="Segoe UI"/>
                <a:cs typeface="Segoe UI"/>
                <a:hlinkClick r:id="rId4"/>
              </a:rPr>
              <a:t>SCANIA Component X dataset, CC BY 4.0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1023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https://doi.org/10.5878/jvb5-d390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TOMAS TECH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55A0"/>
      </a:accent1>
      <a:accent2>
        <a:srgbClr val="00AAE8"/>
      </a:accent2>
      <a:accent3>
        <a:srgbClr val="FFD900"/>
      </a:accent3>
      <a:accent4>
        <a:srgbClr val="9B1D20"/>
      </a:accent4>
      <a:accent5>
        <a:srgbClr val="F1E3F3"/>
      </a:accent5>
      <a:accent6>
        <a:srgbClr val="6DA34D"/>
      </a:accent6>
      <a:hlink>
        <a:srgbClr val="0563C1"/>
      </a:hlink>
      <a:folHlink>
        <a:srgbClr val="954F72"/>
      </a:folHlink>
    </a:clrScheme>
    <a:fontScheme name="TOMA TECH">
      <a:majorFont>
        <a:latin typeface="Segoe UI"/>
        <a:ea typeface="BIZ UDPゴシック"/>
        <a:cs typeface=""/>
      </a:majorFont>
      <a:minorFont>
        <a:latin typeface="Segoe UI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00AAE8"/>
            </a:gs>
            <a:gs pos="53100">
              <a:srgbClr val="0055A0"/>
            </a:gs>
            <a:gs pos="100000">
              <a:srgbClr val="0055A0"/>
            </a:gs>
          </a:gsLst>
          <a:lin ang="8100000" scaled="1"/>
          <a:tileRect/>
        </a:gradFill>
        <a:ln>
          <a:noFill/>
        </a:ln>
        <a:effectLst>
          <a:outerShdw dist="38100" dir="2700000" algn="tl" rotWithShape="0">
            <a:prstClr val="black">
              <a:alpha val="20000"/>
            </a:prstClr>
          </a:outerShdw>
        </a:effectLst>
      </a:spPr>
      <a:bodyPr wrap="square" bIns="288000" rtlCol="0" anchor="ctr">
        <a:noAutofit/>
      </a:bodyPr>
      <a:lstStyle>
        <a:defPPr algn="ctr">
          <a:lnSpc>
            <a:spcPct val="110000"/>
          </a:lnSpc>
          <a:spcAft>
            <a:spcPts val="600"/>
          </a:spcAft>
          <a:defRPr kumimoji="1" sz="1900" b="1" dirty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21198</TotalTime>
  <Words>349</Words>
  <Application>Microsoft Office PowerPoint</Application>
  <PresentationFormat>Widescreen</PresentationFormat>
  <Paragraphs>21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BIZ UDPゴシック</vt:lpstr>
      <vt:lpstr>Fira Sans SemiBold Italic</vt:lpstr>
      <vt:lpstr>游ゴシック</vt:lpstr>
      <vt:lpstr>Arial</vt:lpstr>
      <vt:lpstr>Wingdings 2</vt:lpstr>
      <vt:lpstr>デザインの設定</vt:lpstr>
      <vt:lpstr>PowerPoint Presentation</vt:lpstr>
      <vt:lpstr>PowerPoint Presentation</vt:lpstr>
      <vt:lpstr>PowerPoint Presentation</vt:lpstr>
      <vt:lpstr>Contact 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nozaki ryo</dc:creator>
  <cp:lastModifiedBy>Chaiwat Thitaratanaporn</cp:lastModifiedBy>
  <cp:revision>235</cp:revision>
  <cp:lastPrinted>2021-02-06T02:47:49Z</cp:lastPrinted>
  <dcterms:created xsi:type="dcterms:W3CDTF">2018-07-06T03:47:07Z</dcterms:created>
  <dcterms:modified xsi:type="dcterms:W3CDTF">2026-07-23T09:41:28Z</dcterms:modified>
</cp:coreProperties>
</file>