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1"/>
  </p:sldMasterIdLst>
  <p:notesMasterIdLst>
    <p:notesMasterId r:id="rId12"/>
  </p:notesMasterIdLst>
  <p:handoutMasterIdLst>
    <p:handoutMasterId r:id="rId13"/>
  </p:handoutMasterIdLst>
  <p:sldIdLst>
    <p:sldId id="362" r:id="rId2"/>
    <p:sldId id="398" r:id="rId3"/>
    <p:sldId id="407" r:id="rId4"/>
    <p:sldId id="384" r:id="rId5"/>
    <p:sldId id="399" r:id="rId6"/>
    <p:sldId id="400" r:id="rId7"/>
    <p:sldId id="401" r:id="rId8"/>
    <p:sldId id="404" r:id="rId9"/>
    <p:sldId id="406" r:id="rId10"/>
    <p:sldId id="372" r:id="rId11"/>
  </p:sldIdLst>
  <p:sldSz cx="12192000" cy="6858000"/>
  <p:notesSz cx="6797675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1A9"/>
    <a:srgbClr val="009C7C"/>
    <a:srgbClr val="EE7700"/>
    <a:srgbClr val="F7B14D"/>
    <a:srgbClr val="EF8822"/>
    <a:srgbClr val="EF7D00"/>
    <a:srgbClr val="FFEB00"/>
    <a:srgbClr val="F6AF4A"/>
    <a:srgbClr val="0055A0"/>
    <a:srgbClr val="0085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EC00CE-1A4E-4849-8426-3558C39DF6C9}" v="3" dt="2026-03-20T06:48:56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60" autoAdjust="0"/>
    <p:restoredTop sz="93963" autoAdjust="0"/>
  </p:normalViewPr>
  <p:slideViewPr>
    <p:cSldViewPr snapToGrid="0" showGuides="1">
      <p:cViewPr>
        <p:scale>
          <a:sx n="66" d="100"/>
          <a:sy n="66" d="100"/>
        </p:scale>
        <p:origin x="95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47" d="100"/>
          <a:sy n="47" d="100"/>
        </p:scale>
        <p:origin x="1866" y="2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o Nozaki" userId="e1d02970-db30-4b09-8464-306dfb8d267b" providerId="ADAL" clId="{F3544E13-56A3-4602-9864-F5CA23C43D79}"/>
    <pc:docChg chg="custSel modSld">
      <pc:chgData name="Ryo Nozaki" userId="e1d02970-db30-4b09-8464-306dfb8d267b" providerId="ADAL" clId="{F3544E13-56A3-4602-9864-F5CA23C43D79}" dt="2026-03-20T06:48:56.865" v="15"/>
      <pc:docMkLst>
        <pc:docMk/>
      </pc:docMkLst>
      <pc:sldChg chg="addSp delSp modSp mod">
        <pc:chgData name="Ryo Nozaki" userId="e1d02970-db30-4b09-8464-306dfb8d267b" providerId="ADAL" clId="{F3544E13-56A3-4602-9864-F5CA23C43D79}" dt="2026-03-20T06:48:56.865" v="15"/>
        <pc:sldMkLst>
          <pc:docMk/>
          <pc:sldMk cId="4027146328" sldId="365"/>
        </pc:sldMkLst>
        <pc:picChg chg="add mod">
          <ac:chgData name="Ryo Nozaki" userId="e1d02970-db30-4b09-8464-306dfb8d267b" providerId="ADAL" clId="{F3544E13-56A3-4602-9864-F5CA23C43D79}" dt="2026-03-20T06:48:56.865" v="15"/>
          <ac:picMkLst>
            <pc:docMk/>
            <pc:sldMk cId="4027146328" sldId="365"/>
            <ac:picMk id="2" creationId="{FAAD4E87-70B6-321B-798F-3F2D5E92E8A9}"/>
          </ac:picMkLst>
        </pc:picChg>
        <pc:picChg chg="del">
          <ac:chgData name="Ryo Nozaki" userId="e1d02970-db30-4b09-8464-306dfb8d267b" providerId="ADAL" clId="{F3544E13-56A3-4602-9864-F5CA23C43D79}" dt="2026-03-20T06:48:56.607" v="14" actId="478"/>
          <ac:picMkLst>
            <pc:docMk/>
            <pc:sldMk cId="4027146328" sldId="365"/>
            <ac:picMk id="3" creationId="{650F43D7-F7E5-13DC-5AC9-815E74BA204C}"/>
          </ac:picMkLst>
        </pc:picChg>
      </pc:sldChg>
      <pc:sldChg chg="modSp mod">
        <pc:chgData name="Ryo Nozaki" userId="e1d02970-db30-4b09-8464-306dfb8d267b" providerId="ADAL" clId="{F3544E13-56A3-4602-9864-F5CA23C43D79}" dt="2026-03-19T10:07:13.046" v="13"/>
        <pc:sldMkLst>
          <pc:docMk/>
          <pc:sldMk cId="4102525098" sldId="391"/>
        </pc:sldMkLst>
        <pc:spChg chg="mod">
          <ac:chgData name="Ryo Nozaki" userId="e1d02970-db30-4b09-8464-306dfb8d267b" providerId="ADAL" clId="{F3544E13-56A3-4602-9864-F5CA23C43D79}" dt="2026-03-19T10:07:13.046" v="13"/>
          <ac:spMkLst>
            <pc:docMk/>
            <pc:sldMk cId="4102525098" sldId="391"/>
            <ac:spMk id="17" creationId="{6DCD6165-111F-5E14-9401-2B087D4769C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At-risk trucks</c:v>
                </c:pt>
              </c:strCache>
            </c:strRef>
          </c:tx>
          <c:dPt>
            <c:idx val="0"/>
            <c:bubble3D val="0"/>
            <c:spPr>
              <a:solidFill>
                <a:srgbClr val="0055A0"/>
              </a:solidFill>
            </c:spPr>
            <c:extLst>
              <c:ext xmlns:c16="http://schemas.microsoft.com/office/drawing/2014/chart" uri="{C3380CC4-5D6E-409C-BE32-E72D297353CC}">
                <c16:uniqueId val="{00000001-BD8A-4C1C-ABDC-58E15AF89FB2}"/>
              </c:ext>
            </c:extLst>
          </c:dPt>
          <c:dPt>
            <c:idx val="1"/>
            <c:bubble3D val="0"/>
            <c:spPr>
              <a:solidFill>
                <a:srgbClr val="0C2440"/>
              </a:solidFill>
            </c:spPr>
            <c:extLst>
              <c:ext xmlns:c16="http://schemas.microsoft.com/office/drawing/2014/chart" uri="{C3380CC4-5D6E-409C-BE32-E72D297353CC}">
                <c16:uniqueId val="{00000003-BD8A-4C1C-ABDC-58E15AF89FB2}"/>
              </c:ext>
            </c:extLst>
          </c:dPt>
          <c:cat>
            <c:strRef>
              <c:f>Sheet1!$A$2:$A$3</c:f>
              <c:strCache>
                <c:ptCount val="2"/>
                <c:pt idx="0">
                  <c:v>Caught in time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109</c:v>
                </c:pt>
                <c:pt idx="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8A-4C1C-ABDC-58E15AF89F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Trucks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055A0"/>
              </a:solidFill>
            </c:spPr>
            <c:extLst>
              <c:ext xmlns:c16="http://schemas.microsoft.com/office/drawing/2014/chart" uri="{C3380CC4-5D6E-409C-BE32-E72D297353CC}">
                <c16:uniqueId val="{00000001-7010-4A8F-A954-D0A57886D1C4}"/>
              </c:ext>
            </c:extLst>
          </c:dPt>
          <c:dPt>
            <c:idx val="1"/>
            <c:invertIfNegative val="1"/>
            <c:bubble3D val="0"/>
            <c:spPr>
              <a:solidFill>
                <a:srgbClr val="B7CBE1"/>
              </a:solidFill>
            </c:spPr>
            <c:extLst>
              <c:ext xmlns:c16="http://schemas.microsoft.com/office/drawing/2014/chart" uri="{C3380CC4-5D6E-409C-BE32-E72D297353CC}">
                <c16:uniqueId val="{00000003-7010-4A8F-A954-D0A57886D1C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Called in</c:v>
                </c:pt>
                <c:pt idx="1">
                  <c:v>Left running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2100</c:v>
                </c:pt>
                <c:pt idx="1">
                  <c:v>2945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010-4A8F-A954-D0A57886D1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cost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7CBE1"/>
              </a:solidFill>
            </c:spPr>
            <c:extLst>
              <c:ext xmlns:c16="http://schemas.microsoft.com/office/drawing/2014/chart" uri="{C3380CC4-5D6E-409C-BE32-E72D297353CC}">
                <c16:uniqueId val="{00000001-AA70-4B51-83F0-B3A315E5184E}"/>
              </c:ext>
            </c:extLst>
          </c:dPt>
          <c:dPt>
            <c:idx val="1"/>
            <c:invertIfNegative val="1"/>
            <c:bubble3D val="0"/>
            <c:spPr>
              <a:solidFill>
                <a:srgbClr val="0C2440"/>
              </a:solidFill>
            </c:spPr>
            <c:extLst>
              <c:ext xmlns:c16="http://schemas.microsoft.com/office/drawing/2014/chart" uri="{C3380CC4-5D6E-409C-BE32-E72D297353CC}">
                <c16:uniqueId val="{00000003-AA70-4B51-83F0-B3A315E5184E}"/>
              </c:ext>
            </c:extLst>
          </c:dPt>
          <c:dPt>
            <c:idx val="2"/>
            <c:invertIfNegative val="1"/>
            <c:bubble3D val="0"/>
            <c:spPr>
              <a:solidFill>
                <a:srgbClr val="B7CBE1"/>
              </a:solidFill>
            </c:spPr>
            <c:extLst>
              <c:ext xmlns:c16="http://schemas.microsoft.com/office/drawing/2014/chart" uri="{C3380CC4-5D6E-409C-BE32-E72D297353CC}">
                <c16:uniqueId val="{00000005-AA70-4B51-83F0-B3A315E5184E}"/>
              </c:ext>
            </c:extLst>
          </c:dPt>
          <c:dPt>
            <c:idx val="3"/>
            <c:invertIfNegative val="1"/>
            <c:bubble3D val="0"/>
            <c:spPr>
              <a:solidFill>
                <a:srgbClr val="0055A0"/>
              </a:solidFill>
            </c:spPr>
            <c:extLst>
              <c:ext xmlns:c16="http://schemas.microsoft.com/office/drawing/2014/chart" uri="{C3380CC4-5D6E-409C-BE32-E72D297353CC}">
                <c16:uniqueId val="{00000007-AA70-4B51-83F0-B3A315E5184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Check every truck</c:v>
                </c:pt>
                <c:pt idx="1">
                  <c:v>arXiv 2606.12486 XGBoost Model</c:v>
                </c:pt>
                <c:pt idx="2">
                  <c:v>arXiv 2606.12486 CatBoost Model</c:v>
                </c:pt>
                <c:pt idx="3">
                  <c:v>Our Model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49671</c:v>
                </c:pt>
                <c:pt idx="1">
                  <c:v>37733</c:v>
                </c:pt>
                <c:pt idx="2">
                  <c:v>36724</c:v>
                </c:pt>
                <c:pt idx="3">
                  <c:v>35469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A70-4B51-83F0-B3A315E518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Segoe UI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68896AC-F141-0400-D2D3-2954C7B598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5595BF2-38B1-F972-EF4D-DC6ECEE39A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5F4CF-8193-4D86-BC97-9E1048C4A2F2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A9719C7-24F5-6206-E9F2-924D94532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9C991F1-587D-8947-AD5B-3AAE06CA6C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55B32-804F-4866-BE7F-E20B466A93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6967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09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D8877-6569-4601-A5D3-72C3670B8196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D0C45-6DCD-4D47-967D-53E5F83E15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1809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Welcome, everyone, and thank you for coming. This is TOMAS TECH's AI Adoption Training. Our single goal today: you go home ready to start using AI in your own work tomorrow. This is not a lecture — most of these three hours will be hands-on. Relax and enjoy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526B6-C642-0E50-9CF3-17A4E0DE3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227638-B163-C024-33AB-9A5083C549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81C05-5A6C-4AC0-6D20-28C0065BE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today's flow. In the first 20 minutes we look at where generative AI stands today, and in the next 20 we install safety settings on your PCs. Then a 30-minute hands-on with four office automations, a break, and the last 90 minutes are a full workshop: you will build an automation that posts invoice and quotation PDFs into Excel — on your own PC, to take home.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BBBB5-278E-8053-EA96-E15155B9B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69600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D0C06-32B8-31BD-44B5-A84564D4F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B9A12-9E0C-207B-A0B9-58022E08E4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74B30-8016-E421-BAB1-467AD040F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today's flow. In the first 20 minutes we look at where generative AI stands today, and in the next 20 we install safety settings on your PCs. Then a 30-minute hands-on with four office automations, a break, and the last 90 minutes are a full workshop: you will build an automation that posts invoice and quotation PDFs into Excel — on your own PC, to take home.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B23BD-7CF8-D55A-8B7F-2EAAA4CDF2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77706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2 is security setup. It sounds plain, but it is one of today's most important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 for these three hours. For questions any time, here are our contacts. Tomorrow morning, run just one of the Skills you built today — that's the first step to making it stick.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5186B0-3C5D-63AD-9124-865C2F3A6E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738" y="20669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lnSpc>
                <a:spcPct val="110000"/>
              </a:lnSpc>
              <a:spcAft>
                <a:spcPts val="600"/>
              </a:spcAft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73C838B-1584-D846-5A7A-6105244E6DE0}"/>
              </a:ext>
            </a:extLst>
          </p:cNvPr>
          <p:cNvSpPr/>
          <p:nvPr userDrawn="1"/>
        </p:nvSpPr>
        <p:spPr>
          <a:xfrm>
            <a:off x="0" y="4589518"/>
            <a:ext cx="12192000" cy="703147"/>
          </a:xfrm>
          <a:prstGeom prst="rect">
            <a:avLst/>
          </a:prstGeom>
          <a:solidFill>
            <a:srgbClr val="C9E5FF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4A09907-F2BD-A7F9-C56C-3A58EF2CD3DC}"/>
              </a:ext>
            </a:extLst>
          </p:cNvPr>
          <p:cNvSpPr/>
          <p:nvPr userDrawn="1"/>
        </p:nvSpPr>
        <p:spPr>
          <a:xfrm>
            <a:off x="0" y="4695825"/>
            <a:ext cx="12192000" cy="2162175"/>
          </a:xfrm>
          <a:prstGeom prst="rect">
            <a:avLst/>
          </a:prstGeom>
          <a:solidFill>
            <a:srgbClr val="0055A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DD0ED2EF-BF91-7CD0-4BC4-D686E8B7BB6B}"/>
              </a:ext>
            </a:extLst>
          </p:cNvPr>
          <p:cNvSpPr txBox="1">
            <a:spLocks/>
          </p:cNvSpPr>
          <p:nvPr userDrawn="1"/>
        </p:nvSpPr>
        <p:spPr>
          <a:xfrm>
            <a:off x="476738" y="5594349"/>
            <a:ext cx="5933587" cy="365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None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None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lt"/>
                <a:ea typeface="メイリオ"/>
                <a:cs typeface="Segoe UI" panose="020B0502040204020203" pitchFamily="34" charset="0"/>
              </a:rPr>
              <a:t>Presentation by TOMAS TECH CO., LTD.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037A9FF8-660F-DE49-5CF8-F64B0146CF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362" y="3856886"/>
            <a:ext cx="3000863" cy="732632"/>
          </a:xfrm>
          <a:prstGeom prst="rect">
            <a:avLst/>
          </a:prstGeom>
          <a:solidFill>
            <a:srgbClr val="0055A0"/>
          </a:solidFill>
        </p:spPr>
      </p:pic>
    </p:spTree>
    <p:extLst>
      <p:ext uri="{BB962C8B-B14F-4D97-AF65-F5344CB8AC3E}">
        <p14:creationId xmlns:p14="http://schemas.microsoft.com/office/powerpoint/2010/main" val="1109617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D777ED97-F3F1-11C6-0589-BF9462712AFD}"/>
              </a:ext>
            </a:extLst>
          </p:cNvPr>
          <p:cNvSpPr/>
          <p:nvPr userDrawn="1"/>
        </p:nvSpPr>
        <p:spPr>
          <a:xfrm>
            <a:off x="926160" y="3242711"/>
            <a:ext cx="4193734" cy="3615289"/>
          </a:xfrm>
          <a:prstGeom prst="triangle">
            <a:avLst>
              <a:gd name="adj" fmla="val 50017"/>
            </a:avLst>
          </a:prstGeom>
          <a:solidFill>
            <a:srgbClr val="FFD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n-lt"/>
            </a:endParaRPr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3B2BD8E5-3F6A-2031-C318-A1B28BA7693D}"/>
              </a:ext>
            </a:extLst>
          </p:cNvPr>
          <p:cNvSpPr/>
          <p:nvPr userDrawn="1"/>
        </p:nvSpPr>
        <p:spPr>
          <a:xfrm>
            <a:off x="1199663" y="3593177"/>
            <a:ext cx="3787194" cy="3264823"/>
          </a:xfrm>
          <a:prstGeom prst="triangle">
            <a:avLst/>
          </a:prstGeom>
          <a:solidFill>
            <a:srgbClr val="00AA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n-lt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55186B0-3C5D-63AD-9124-865C2F3A6E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4316" y="2052185"/>
            <a:ext cx="6428021" cy="1215526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10000"/>
              </a:lnSpc>
              <a:spcAft>
                <a:spcPts val="600"/>
              </a:spcAft>
              <a:defRPr sz="72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DD0ED2EF-BF91-7CD0-4BC4-D686E8B7BB6B}"/>
              </a:ext>
            </a:extLst>
          </p:cNvPr>
          <p:cNvSpPr txBox="1">
            <a:spLocks/>
          </p:cNvSpPr>
          <p:nvPr userDrawn="1"/>
        </p:nvSpPr>
        <p:spPr>
          <a:xfrm>
            <a:off x="6946694" y="6307132"/>
            <a:ext cx="5140531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None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None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55A0"/>
                </a:solidFill>
                <a:effectLst/>
                <a:uLnTx/>
                <a:uFillTx/>
                <a:latin typeface="+mn-lt"/>
                <a:ea typeface="メイリオ"/>
                <a:cs typeface="Segoe UI" panose="020B0502040204020203" pitchFamily="34" charset="0"/>
              </a:rPr>
              <a:t>Presentation by TOMAS TECH CO., LTD.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037A9FF8-660F-DE49-5CF8-F64B0146CF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2681" y="243287"/>
            <a:ext cx="3000863" cy="732632"/>
          </a:xfrm>
          <a:prstGeom prst="rect">
            <a:avLst/>
          </a:prstGeom>
          <a:solidFill>
            <a:srgbClr val="0055A0"/>
          </a:solidFill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C09980B-3A95-7CEB-6E41-9062673C40DD}"/>
              </a:ext>
            </a:extLst>
          </p:cNvPr>
          <p:cNvSpPr/>
          <p:nvPr userDrawn="1"/>
        </p:nvSpPr>
        <p:spPr>
          <a:xfrm>
            <a:off x="0" y="0"/>
            <a:ext cx="1199663" cy="6858000"/>
          </a:xfrm>
          <a:prstGeom prst="rect">
            <a:avLst/>
          </a:prstGeom>
          <a:solidFill>
            <a:srgbClr val="0055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平行四辺形 9">
            <a:extLst>
              <a:ext uri="{FF2B5EF4-FFF2-40B4-BE49-F238E27FC236}">
                <a16:creationId xmlns:a16="http://schemas.microsoft.com/office/drawing/2014/main" id="{CE8D2E18-0C35-25D3-64C4-CDF1171D6866}"/>
              </a:ext>
            </a:extLst>
          </p:cNvPr>
          <p:cNvSpPr/>
          <p:nvPr userDrawn="1"/>
        </p:nvSpPr>
        <p:spPr>
          <a:xfrm>
            <a:off x="104775" y="0"/>
            <a:ext cx="3533097" cy="6858000"/>
          </a:xfrm>
          <a:prstGeom prst="parallelogram">
            <a:avLst/>
          </a:prstGeom>
          <a:solidFill>
            <a:srgbClr val="0055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1786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08B06415-47FA-63CD-6303-54912CF9B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96"/>
          <a:stretch/>
        </p:blipFill>
        <p:spPr>
          <a:xfrm>
            <a:off x="8758084" y="180196"/>
            <a:ext cx="3433916" cy="449445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455186B0-3C5D-63AD-9124-865C2F3A6E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649" y="2474259"/>
            <a:ext cx="7200000" cy="918229"/>
          </a:xfrm>
          <a:prstGeom prst="rect">
            <a:avLst/>
          </a:prstGeom>
        </p:spPr>
        <p:txBody>
          <a:bodyPr wrap="none" lIns="0" anchor="t"/>
          <a:lstStyle>
            <a:lvl1pPr>
              <a:lnSpc>
                <a:spcPct val="110000"/>
              </a:lnSpc>
              <a:spcAft>
                <a:spcPts val="600"/>
              </a:spcAft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DD0ED2EF-BF91-7CD0-4BC4-D686E8B7BB6B}"/>
              </a:ext>
            </a:extLst>
          </p:cNvPr>
          <p:cNvSpPr txBox="1">
            <a:spLocks/>
          </p:cNvSpPr>
          <p:nvPr userDrawn="1"/>
        </p:nvSpPr>
        <p:spPr>
          <a:xfrm>
            <a:off x="6946694" y="6307132"/>
            <a:ext cx="5140531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None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None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Wingdings 2" pitchFamily="18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55A0"/>
                </a:solidFill>
                <a:effectLst/>
                <a:uLnTx/>
                <a:uFillTx/>
                <a:latin typeface="+mn-lt"/>
                <a:ea typeface="メイリオ"/>
                <a:cs typeface="Segoe UI" panose="020B0502040204020203" pitchFamily="34" charset="0"/>
              </a:rPr>
              <a:t>Presentation by TOMAS TECH CO., LTD.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037A9FF8-660F-DE49-5CF8-F64B0146CFB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49" y="427704"/>
            <a:ext cx="3000863" cy="732632"/>
          </a:xfrm>
          <a:prstGeom prst="rect">
            <a:avLst/>
          </a:prstGeom>
          <a:solidFill>
            <a:srgbClr val="0055A0"/>
          </a:solidFill>
        </p:spPr>
      </p:pic>
      <p:sp>
        <p:nvSpPr>
          <p:cNvPr id="4" name="直方体 3">
            <a:extLst>
              <a:ext uri="{FF2B5EF4-FFF2-40B4-BE49-F238E27FC236}">
                <a16:creationId xmlns:a16="http://schemas.microsoft.com/office/drawing/2014/main" id="{D3DA494E-07EA-AEF9-CABA-37C15701F5F7}"/>
              </a:ext>
            </a:extLst>
          </p:cNvPr>
          <p:cNvSpPr/>
          <p:nvPr userDrawn="1"/>
        </p:nvSpPr>
        <p:spPr>
          <a:xfrm rot="419668" flipH="1">
            <a:off x="8497605" y="4849366"/>
            <a:ext cx="1187881" cy="1187881"/>
          </a:xfrm>
          <a:prstGeom prst="cube">
            <a:avLst/>
          </a:prstGeom>
          <a:solidFill>
            <a:srgbClr val="D6B700"/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n-lt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003B7B1-0482-122F-81E4-2592DC5623CA}"/>
              </a:ext>
            </a:extLst>
          </p:cNvPr>
          <p:cNvSpPr/>
          <p:nvPr userDrawn="1"/>
        </p:nvSpPr>
        <p:spPr>
          <a:xfrm>
            <a:off x="377649" y="3465513"/>
            <a:ext cx="7200000" cy="92208"/>
          </a:xfrm>
          <a:prstGeom prst="rect">
            <a:avLst/>
          </a:prstGeom>
          <a:gradFill flip="none" rotWithShape="1">
            <a:gsLst>
              <a:gs pos="0">
                <a:srgbClr val="C9E5FF"/>
              </a:gs>
              <a:gs pos="50000">
                <a:srgbClr val="0055A0"/>
              </a:gs>
              <a:gs pos="95000">
                <a:srgbClr val="0055A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914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280D912-9BDC-F8DA-B6E0-24D0F83070C6}"/>
              </a:ext>
            </a:extLst>
          </p:cNvPr>
          <p:cNvSpPr/>
          <p:nvPr userDrawn="1"/>
        </p:nvSpPr>
        <p:spPr>
          <a:xfrm>
            <a:off x="227013" y="188913"/>
            <a:ext cx="11737975" cy="6480175"/>
          </a:xfrm>
          <a:prstGeom prst="roundRect">
            <a:avLst>
              <a:gd name="adj" fmla="val 3107"/>
            </a:avLst>
          </a:prstGeom>
          <a:gradFill>
            <a:gsLst>
              <a:gs pos="0">
                <a:srgbClr val="00AAE8"/>
              </a:gs>
              <a:gs pos="53100">
                <a:srgbClr val="0055A0"/>
              </a:gs>
              <a:gs pos="100000">
                <a:srgbClr val="0055A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378B3C3-0501-8EEA-E478-C4C09954F39A}"/>
              </a:ext>
            </a:extLst>
          </p:cNvPr>
          <p:cNvSpPr/>
          <p:nvPr userDrawn="1"/>
        </p:nvSpPr>
        <p:spPr>
          <a:xfrm>
            <a:off x="-104774" y="-400050"/>
            <a:ext cx="8867774" cy="2105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kumimoji="1" lang="en-US" altLang="ja-JP" sz="16600" b="1" dirty="0">
                <a:solidFill>
                  <a:schemeClr val="bg1">
                    <a:alpha val="20000"/>
                  </a:schemeClr>
                </a:solidFill>
              </a:rPr>
              <a:t>AGENDA</a:t>
            </a:r>
            <a:endParaRPr kumimoji="1" lang="ja-JP" altLang="en-US" sz="9600" b="1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1166DCC6-25E6-B43A-4753-F28878787F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3105418"/>
            <a:ext cx="5838094" cy="6471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628650" indent="-6286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3600" b="1">
                <a:solidFill>
                  <a:schemeClr val="bg1"/>
                </a:solidFill>
                <a:latin typeface="+mn-lt"/>
                <a:ea typeface="+mn-ea"/>
              </a:defRPr>
            </a:lvl1pPr>
            <a:lvl2pPr marL="457200" indent="0">
              <a:buFontTx/>
              <a:buNone/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914400" indent="0">
              <a:buFontTx/>
              <a:buNone/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71600" indent="0">
              <a:buFontTx/>
              <a:buNone/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828800" indent="0">
              <a:buFontTx/>
              <a:buNone/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キーメッセージ</a:t>
            </a:r>
          </a:p>
        </p:txBody>
      </p:sp>
    </p:spTree>
    <p:extLst>
      <p:ext uri="{BB962C8B-B14F-4D97-AF65-F5344CB8AC3E}">
        <p14:creationId xmlns:p14="http://schemas.microsoft.com/office/powerpoint/2010/main" val="2642028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">
    <p:bg>
      <p:bgPr>
        <a:gradFill flip="none" rotWithShape="1">
          <a:gsLst>
            <a:gs pos="0">
              <a:srgbClr val="00AAE8"/>
            </a:gs>
            <a:gs pos="53100">
              <a:srgbClr val="0055A0"/>
            </a:gs>
            <a:gs pos="100000">
              <a:srgbClr val="0055A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280D912-9BDC-F8DA-B6E0-24D0F83070C6}"/>
              </a:ext>
            </a:extLst>
          </p:cNvPr>
          <p:cNvSpPr/>
          <p:nvPr userDrawn="1"/>
        </p:nvSpPr>
        <p:spPr>
          <a:xfrm>
            <a:off x="227013" y="188913"/>
            <a:ext cx="11737975" cy="6480175"/>
          </a:xfrm>
          <a:prstGeom prst="roundRect">
            <a:avLst>
              <a:gd name="adj" fmla="val 31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BCE99D3D-13EF-01AC-588B-9D438AF16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28888"/>
            <a:ext cx="10515600" cy="180022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10000"/>
              </a:lnSpc>
              <a:spcAft>
                <a:spcPts val="600"/>
              </a:spcAft>
              <a:defRPr sz="7200" b="1">
                <a:gradFill>
                  <a:gsLst>
                    <a:gs pos="0">
                      <a:srgbClr val="00AAE8"/>
                    </a:gs>
                    <a:gs pos="53100">
                      <a:srgbClr val="0055A0"/>
                    </a:gs>
                    <a:gs pos="100000">
                      <a:srgbClr val="0055A0"/>
                    </a:gs>
                  </a:gsLst>
                  <a:lin ang="2700000" scaled="1"/>
                </a:gradFill>
                <a:latin typeface="+mn-lt"/>
                <a:ea typeface="+mj-ea"/>
              </a:defRPr>
            </a:lvl1pPr>
          </a:lstStyle>
          <a:p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286168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会社説明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758FF1A-8DBC-2667-4ECF-834679E4BB8A}"/>
              </a:ext>
            </a:extLst>
          </p:cNvPr>
          <p:cNvSpPr/>
          <p:nvPr userDrawn="1"/>
        </p:nvSpPr>
        <p:spPr>
          <a:xfrm>
            <a:off x="35720" y="0"/>
            <a:ext cx="4586288" cy="6858000"/>
          </a:xfrm>
          <a:prstGeom prst="rect">
            <a:avLst/>
          </a:prstGeom>
          <a:solidFill>
            <a:srgbClr val="0055A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906B24-8013-69C3-433D-1712081DE74E}"/>
              </a:ext>
            </a:extLst>
          </p:cNvPr>
          <p:cNvSpPr/>
          <p:nvPr userDrawn="1"/>
        </p:nvSpPr>
        <p:spPr>
          <a:xfrm>
            <a:off x="0" y="0"/>
            <a:ext cx="4500563" cy="6858000"/>
          </a:xfrm>
          <a:prstGeom prst="rect">
            <a:avLst/>
          </a:prstGeom>
          <a:solidFill>
            <a:srgbClr val="0055A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BD52882-21FB-E81E-8D56-813DAC540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907" y="109409"/>
            <a:ext cx="3984748" cy="48149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10000"/>
              </a:lnSpc>
              <a:spcAft>
                <a:spcPts val="600"/>
              </a:spcAft>
              <a:defRPr sz="2800" b="1">
                <a:solidFill>
                  <a:schemeClr val="bg1"/>
                </a:solidFill>
                <a:latin typeface="+mj-lt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タイトル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DE966B7-2B2D-26D7-D50D-15C0A560CD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4" r="21787"/>
          <a:stretch/>
        </p:blipFill>
        <p:spPr>
          <a:xfrm>
            <a:off x="4622008" y="0"/>
            <a:ext cx="7569992" cy="6858000"/>
          </a:xfrm>
          <a:prstGeom prst="rect">
            <a:avLst/>
          </a:prstGeom>
        </p:spPr>
      </p:pic>
      <p:sp>
        <p:nvSpPr>
          <p:cNvPr id="6" name="スライド番号プレースホルダー 4">
            <a:extLst>
              <a:ext uri="{FF2B5EF4-FFF2-40B4-BE49-F238E27FC236}">
                <a16:creationId xmlns:a16="http://schemas.microsoft.com/office/drawing/2014/main" id="{5851F0E5-2B68-46D3-CA04-EA0A7D97B82C}"/>
              </a:ext>
            </a:extLst>
          </p:cNvPr>
          <p:cNvSpPr txBox="1">
            <a:spLocks/>
          </p:cNvSpPr>
          <p:nvPr userDrawn="1"/>
        </p:nvSpPr>
        <p:spPr>
          <a:xfrm>
            <a:off x="11250126" y="6439804"/>
            <a:ext cx="811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9C34D28-DE79-4B28-8B5E-B753BBC87275}" type="slidenum">
              <a:rPr kumimoji="1" lang="ja-JP" altLang="en-US" sz="180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rPr>
              <a:pPr/>
              <a:t>‹#›</a:t>
            </a:fld>
            <a:endParaRPr kumimoji="1" lang="ja-JP" altLang="en-US" sz="1800" dirty="0">
              <a:solidFill>
                <a:schemeClr val="bg1"/>
              </a:solidFill>
              <a:latin typeface="+mn-lt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510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会社説明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5F7F5B3-8C7E-29FD-3909-613459C423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54" r="18457"/>
          <a:stretch/>
        </p:blipFill>
        <p:spPr>
          <a:xfrm>
            <a:off x="4622007" y="0"/>
            <a:ext cx="7569993" cy="685800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758FF1A-8DBC-2667-4ECF-834679E4BB8A}"/>
              </a:ext>
            </a:extLst>
          </p:cNvPr>
          <p:cNvSpPr/>
          <p:nvPr userDrawn="1"/>
        </p:nvSpPr>
        <p:spPr>
          <a:xfrm>
            <a:off x="35720" y="0"/>
            <a:ext cx="4586288" cy="6858000"/>
          </a:xfrm>
          <a:prstGeom prst="rect">
            <a:avLst/>
          </a:prstGeom>
          <a:solidFill>
            <a:srgbClr val="0055A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906B24-8013-69C3-433D-1712081DE74E}"/>
              </a:ext>
            </a:extLst>
          </p:cNvPr>
          <p:cNvSpPr/>
          <p:nvPr userDrawn="1"/>
        </p:nvSpPr>
        <p:spPr>
          <a:xfrm>
            <a:off x="0" y="0"/>
            <a:ext cx="4500563" cy="6858000"/>
          </a:xfrm>
          <a:prstGeom prst="rect">
            <a:avLst/>
          </a:prstGeom>
          <a:solidFill>
            <a:srgbClr val="0055A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BD52882-21FB-E81E-8D56-813DAC540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907" y="109409"/>
            <a:ext cx="3984748" cy="48149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10000"/>
              </a:lnSpc>
              <a:spcAft>
                <a:spcPts val="600"/>
              </a:spcAft>
              <a:defRPr sz="28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6" name="スライド番号プレースホルダー 4">
            <a:extLst>
              <a:ext uri="{FF2B5EF4-FFF2-40B4-BE49-F238E27FC236}">
                <a16:creationId xmlns:a16="http://schemas.microsoft.com/office/drawing/2014/main" id="{D35D4C3E-6A0D-8258-4B8E-5499A5C29B6E}"/>
              </a:ext>
            </a:extLst>
          </p:cNvPr>
          <p:cNvSpPr txBox="1">
            <a:spLocks/>
          </p:cNvSpPr>
          <p:nvPr userDrawn="1"/>
        </p:nvSpPr>
        <p:spPr>
          <a:xfrm>
            <a:off x="11250126" y="6439804"/>
            <a:ext cx="811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9C34D28-DE79-4B28-8B5E-B753BBC87275}" type="slidenum">
              <a:rPr kumimoji="1" lang="ja-JP" altLang="en-US" sz="180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rPr>
              <a:pPr/>
              <a:t>‹#›</a:t>
            </a:fld>
            <a:endParaRPr kumimoji="1" lang="ja-JP" altLang="en-US" sz="1800" dirty="0">
              <a:solidFill>
                <a:schemeClr val="bg1"/>
              </a:solidFill>
              <a:latin typeface="+mn-lt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31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758FF1A-8DBC-2667-4ECF-834679E4BB8A}"/>
              </a:ext>
            </a:extLst>
          </p:cNvPr>
          <p:cNvSpPr/>
          <p:nvPr userDrawn="1"/>
        </p:nvSpPr>
        <p:spPr>
          <a:xfrm>
            <a:off x="0" y="66084"/>
            <a:ext cx="12192000" cy="703147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906B24-8013-69C3-433D-1712081DE74E}"/>
              </a:ext>
            </a:extLst>
          </p:cNvPr>
          <p:cNvSpPr/>
          <p:nvPr userDrawn="1"/>
        </p:nvSpPr>
        <p:spPr>
          <a:xfrm>
            <a:off x="0" y="0"/>
            <a:ext cx="12192000" cy="700309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BD52882-21FB-E81E-8D56-813DAC540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907" y="109409"/>
            <a:ext cx="10515600" cy="48149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10000"/>
              </a:lnSpc>
              <a:spcAft>
                <a:spcPts val="600"/>
              </a:spcAft>
              <a:defRPr sz="28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6" name="スライド番号プレースホルダー 4">
            <a:extLst>
              <a:ext uri="{FF2B5EF4-FFF2-40B4-BE49-F238E27FC236}">
                <a16:creationId xmlns:a16="http://schemas.microsoft.com/office/drawing/2014/main" id="{480AC4FF-11BF-0AD4-2E40-E26F5862492A}"/>
              </a:ext>
            </a:extLst>
          </p:cNvPr>
          <p:cNvSpPr txBox="1">
            <a:spLocks/>
          </p:cNvSpPr>
          <p:nvPr userDrawn="1"/>
        </p:nvSpPr>
        <p:spPr>
          <a:xfrm>
            <a:off x="11207262" y="167592"/>
            <a:ext cx="811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9C34D28-DE79-4B28-8B5E-B753BBC87275}" type="slidenum">
              <a:rPr kumimoji="1" lang="ja-JP" altLang="en-US" sz="1800" smtClean="0">
                <a:solidFill>
                  <a:prstClr val="white"/>
                </a:solidFill>
                <a:latin typeface="+mn-lt"/>
                <a:ea typeface="+mj-ea"/>
                <a:cs typeface="Arial" panose="020B0604020202020204" pitchFamily="34" charset="0"/>
              </a:rPr>
              <a:pPr/>
              <a:t>‹#›</a:t>
            </a:fld>
            <a:endParaRPr kumimoji="1" lang="ja-JP" altLang="en-US" sz="1800" dirty="0">
              <a:solidFill>
                <a:prstClr val="white"/>
              </a:solidFill>
              <a:latin typeface="+mn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693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758FF1A-8DBC-2667-4ECF-834679E4BB8A}"/>
              </a:ext>
            </a:extLst>
          </p:cNvPr>
          <p:cNvSpPr/>
          <p:nvPr userDrawn="1"/>
        </p:nvSpPr>
        <p:spPr>
          <a:xfrm>
            <a:off x="0" y="66084"/>
            <a:ext cx="12192000" cy="703147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906B24-8013-69C3-433D-1712081DE74E}"/>
              </a:ext>
            </a:extLst>
          </p:cNvPr>
          <p:cNvSpPr/>
          <p:nvPr userDrawn="1"/>
        </p:nvSpPr>
        <p:spPr>
          <a:xfrm>
            <a:off x="0" y="0"/>
            <a:ext cx="12192000" cy="700309"/>
          </a:xfrm>
          <a:prstGeom prst="rect">
            <a:avLst/>
          </a:prstGeom>
          <a:solidFill>
            <a:srgbClr val="EF7D0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BD52882-21FB-E81E-8D56-813DAC540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907" y="109409"/>
            <a:ext cx="10515600" cy="48149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10000"/>
              </a:lnSpc>
              <a:spcAft>
                <a:spcPts val="600"/>
              </a:spcAft>
              <a:defRPr sz="28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6" name="スライド番号プレースホルダー 4">
            <a:extLst>
              <a:ext uri="{FF2B5EF4-FFF2-40B4-BE49-F238E27FC236}">
                <a16:creationId xmlns:a16="http://schemas.microsoft.com/office/drawing/2014/main" id="{480AC4FF-11BF-0AD4-2E40-E26F5862492A}"/>
              </a:ext>
            </a:extLst>
          </p:cNvPr>
          <p:cNvSpPr txBox="1">
            <a:spLocks/>
          </p:cNvSpPr>
          <p:nvPr userDrawn="1"/>
        </p:nvSpPr>
        <p:spPr>
          <a:xfrm>
            <a:off x="11207262" y="167592"/>
            <a:ext cx="811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9C34D28-DE79-4B28-8B5E-B753BBC87275}" type="slidenum">
              <a:rPr kumimoji="1" lang="ja-JP" altLang="en-US" sz="1800" smtClean="0">
                <a:solidFill>
                  <a:prstClr val="white"/>
                </a:solidFill>
                <a:latin typeface="+mn-lt"/>
                <a:ea typeface="+mj-ea"/>
                <a:cs typeface="Arial" panose="020B0604020202020204" pitchFamily="34" charset="0"/>
              </a:rPr>
              <a:pPr/>
              <a:t>‹#›</a:t>
            </a:fld>
            <a:endParaRPr kumimoji="1" lang="ja-JP" altLang="en-US" sz="1800" dirty="0">
              <a:solidFill>
                <a:prstClr val="white"/>
              </a:solidFill>
              <a:latin typeface="+mn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774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758FF1A-8DBC-2667-4ECF-834679E4BB8A}"/>
              </a:ext>
            </a:extLst>
          </p:cNvPr>
          <p:cNvSpPr/>
          <p:nvPr userDrawn="1"/>
        </p:nvSpPr>
        <p:spPr>
          <a:xfrm>
            <a:off x="0" y="66084"/>
            <a:ext cx="12192000" cy="703147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906B24-8013-69C3-433D-1712081DE74E}"/>
              </a:ext>
            </a:extLst>
          </p:cNvPr>
          <p:cNvSpPr/>
          <p:nvPr userDrawn="1"/>
        </p:nvSpPr>
        <p:spPr>
          <a:xfrm>
            <a:off x="0" y="0"/>
            <a:ext cx="12192000" cy="700309"/>
          </a:xfrm>
          <a:prstGeom prst="rect">
            <a:avLst/>
          </a:prstGeom>
          <a:solidFill>
            <a:srgbClr val="009C7C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BD52882-21FB-E81E-8D56-813DAC540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907" y="109409"/>
            <a:ext cx="10515600" cy="48149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10000"/>
              </a:lnSpc>
              <a:spcAft>
                <a:spcPts val="600"/>
              </a:spcAft>
              <a:defRPr sz="28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6" name="スライド番号プレースホルダー 4">
            <a:extLst>
              <a:ext uri="{FF2B5EF4-FFF2-40B4-BE49-F238E27FC236}">
                <a16:creationId xmlns:a16="http://schemas.microsoft.com/office/drawing/2014/main" id="{480AC4FF-11BF-0AD4-2E40-E26F5862492A}"/>
              </a:ext>
            </a:extLst>
          </p:cNvPr>
          <p:cNvSpPr txBox="1">
            <a:spLocks/>
          </p:cNvSpPr>
          <p:nvPr userDrawn="1"/>
        </p:nvSpPr>
        <p:spPr>
          <a:xfrm>
            <a:off x="11207262" y="167592"/>
            <a:ext cx="811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9C34D28-DE79-4B28-8B5E-B753BBC87275}" type="slidenum">
              <a:rPr kumimoji="1" lang="ja-JP" altLang="en-US" sz="1800" smtClean="0">
                <a:solidFill>
                  <a:prstClr val="white"/>
                </a:solidFill>
                <a:latin typeface="+mn-lt"/>
                <a:ea typeface="+mj-ea"/>
                <a:cs typeface="Arial" panose="020B0604020202020204" pitchFamily="34" charset="0"/>
              </a:rPr>
              <a:pPr/>
              <a:t>‹#›</a:t>
            </a:fld>
            <a:endParaRPr kumimoji="1" lang="ja-JP" altLang="en-US" sz="1800" dirty="0">
              <a:solidFill>
                <a:prstClr val="white"/>
              </a:solidFill>
              <a:latin typeface="+mn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116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＋キーメッセ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758FF1A-8DBC-2667-4ECF-834679E4BB8A}"/>
              </a:ext>
            </a:extLst>
          </p:cNvPr>
          <p:cNvSpPr/>
          <p:nvPr userDrawn="1"/>
        </p:nvSpPr>
        <p:spPr>
          <a:xfrm>
            <a:off x="0" y="66084"/>
            <a:ext cx="12192000" cy="703147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906B24-8013-69C3-433D-1712081DE74E}"/>
              </a:ext>
            </a:extLst>
          </p:cNvPr>
          <p:cNvSpPr/>
          <p:nvPr userDrawn="1"/>
        </p:nvSpPr>
        <p:spPr>
          <a:xfrm>
            <a:off x="0" y="0"/>
            <a:ext cx="12192000" cy="700309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BD52882-21FB-E81E-8D56-813DAC540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907" y="109409"/>
            <a:ext cx="10515600" cy="48149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10000"/>
              </a:lnSpc>
              <a:spcAft>
                <a:spcPts val="600"/>
              </a:spcAft>
              <a:defRPr sz="28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094550AA-CD8F-8953-E322-D63BDC658C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908" y="922338"/>
            <a:ext cx="11676186" cy="36978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  <a:lvl2pPr marL="457200" indent="0">
              <a:buFontTx/>
              <a:buNone/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914400" indent="0">
              <a:buFontTx/>
              <a:buNone/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71600" indent="0">
              <a:buFontTx/>
              <a:buNone/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828800" indent="0">
              <a:buFontTx/>
              <a:buNone/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キーメッセージ</a:t>
            </a:r>
          </a:p>
        </p:txBody>
      </p:sp>
      <p:sp>
        <p:nvSpPr>
          <p:cNvPr id="6" name="スライド番号プレースホルダー 4">
            <a:extLst>
              <a:ext uri="{FF2B5EF4-FFF2-40B4-BE49-F238E27FC236}">
                <a16:creationId xmlns:a16="http://schemas.microsoft.com/office/drawing/2014/main" id="{1056B774-DD0D-918A-7C03-62D8E1354A21}"/>
              </a:ext>
            </a:extLst>
          </p:cNvPr>
          <p:cNvSpPr txBox="1">
            <a:spLocks/>
          </p:cNvSpPr>
          <p:nvPr userDrawn="1"/>
        </p:nvSpPr>
        <p:spPr>
          <a:xfrm>
            <a:off x="11207262" y="167592"/>
            <a:ext cx="811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9C34D28-DE79-4B28-8B5E-B753BBC87275}" type="slidenum">
              <a:rPr kumimoji="1" lang="ja-JP" altLang="en-US" sz="1800" smtClean="0">
                <a:solidFill>
                  <a:prstClr val="white"/>
                </a:solidFill>
                <a:latin typeface="+mn-lt"/>
                <a:ea typeface="+mn-ea"/>
                <a:cs typeface="Segoe UI" panose="020B0502040204020203" pitchFamily="34" charset="0"/>
              </a:rPr>
              <a:pPr/>
              <a:t>‹#›</a:t>
            </a:fld>
            <a:endParaRPr kumimoji="1" lang="ja-JP" altLang="en-US" sz="1800" dirty="0">
              <a:solidFill>
                <a:prstClr val="white"/>
              </a:solidFill>
              <a:latin typeface="+mn-lt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976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4">
            <a:extLst>
              <a:ext uri="{FF2B5EF4-FFF2-40B4-BE49-F238E27FC236}">
                <a16:creationId xmlns:a16="http://schemas.microsoft.com/office/drawing/2014/main" id="{5851F0E5-2B68-46D3-CA04-EA0A7D97B82C}"/>
              </a:ext>
            </a:extLst>
          </p:cNvPr>
          <p:cNvSpPr txBox="1">
            <a:spLocks/>
          </p:cNvSpPr>
          <p:nvPr userDrawn="1"/>
        </p:nvSpPr>
        <p:spPr>
          <a:xfrm>
            <a:off x="11250126" y="6439804"/>
            <a:ext cx="811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9C34D28-DE79-4B28-8B5E-B753BBC87275}" type="slidenum">
              <a:rPr kumimoji="1" lang="ja-JP" altLang="en-US" sz="180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Segoe UI" panose="020B0502040204020203" pitchFamily="34" charset="0"/>
              </a:rPr>
              <a:pPr/>
              <a:t>‹#›</a:t>
            </a:fld>
            <a:endParaRPr kumimoji="1" lang="ja-JP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173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3FDEDD4-6BDD-7639-A04F-44AEE999B7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227013" y="649288"/>
            <a:ext cx="6019800" cy="60198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BBF2B0F-478D-ADC7-A6CF-7AB837A2ACE5}"/>
              </a:ext>
            </a:extLst>
          </p:cNvPr>
          <p:cNvSpPr/>
          <p:nvPr userDrawn="1"/>
        </p:nvSpPr>
        <p:spPr>
          <a:xfrm>
            <a:off x="0" y="66084"/>
            <a:ext cx="12192000" cy="703147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0DE16FF-473F-1EFD-4713-DDA039A13C4A}"/>
              </a:ext>
            </a:extLst>
          </p:cNvPr>
          <p:cNvSpPr/>
          <p:nvPr userDrawn="1"/>
        </p:nvSpPr>
        <p:spPr>
          <a:xfrm>
            <a:off x="0" y="0"/>
            <a:ext cx="12192000" cy="700309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メイリオ"/>
              <a:cs typeface="+mn-cs"/>
            </a:endParaRP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5632468C-98B3-A1CC-D49A-CC69E5A3D0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907" y="109409"/>
            <a:ext cx="10515600" cy="48149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10000"/>
              </a:lnSpc>
              <a:spcAft>
                <a:spcPts val="600"/>
              </a:spcAft>
              <a:defRPr sz="28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8" name="スライド番号プレースホルダー 4">
            <a:extLst>
              <a:ext uri="{FF2B5EF4-FFF2-40B4-BE49-F238E27FC236}">
                <a16:creationId xmlns:a16="http://schemas.microsoft.com/office/drawing/2014/main" id="{963A5CCE-324B-F4A0-8FB1-8527F77EC00F}"/>
              </a:ext>
            </a:extLst>
          </p:cNvPr>
          <p:cNvSpPr txBox="1">
            <a:spLocks/>
          </p:cNvSpPr>
          <p:nvPr userDrawn="1"/>
        </p:nvSpPr>
        <p:spPr>
          <a:xfrm>
            <a:off x="11207262" y="167592"/>
            <a:ext cx="811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9C34D28-DE79-4B28-8B5E-B753BBC87275}" type="slidenum">
              <a:rPr kumimoji="1" lang="ja-JP" altLang="en-US" sz="1800" smtClean="0">
                <a:solidFill>
                  <a:prstClr val="white"/>
                </a:solidFill>
                <a:latin typeface="+mn-lt"/>
                <a:ea typeface="+mj-ea"/>
                <a:cs typeface="Arial" panose="020B0604020202020204" pitchFamily="34" charset="0"/>
              </a:rPr>
              <a:pPr/>
              <a:t>‹#›</a:t>
            </a:fld>
            <a:endParaRPr kumimoji="1" lang="ja-JP" altLang="en-US" sz="1800" dirty="0">
              <a:solidFill>
                <a:prstClr val="white"/>
              </a:solidFill>
              <a:latin typeface="+mn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349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370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7" r:id="rId4"/>
    <p:sldLayoutId id="2147483655" r:id="rId5"/>
    <p:sldLayoutId id="2147483650" r:id="rId6"/>
    <p:sldLayoutId id="2147483651" r:id="rId7"/>
    <p:sldLayoutId id="2147483649" r:id="rId8"/>
    <p:sldLayoutId id="2147483765" r:id="rId9"/>
    <p:sldLayoutId id="2147483766" r:id="rId10"/>
    <p:sldLayoutId id="2147483652" r:id="rId11"/>
    <p:sldLayoutId id="2147483656" r:id="rId12"/>
    <p:sldLayoutId id="214748365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537" userDrawn="1">
          <p15:clr>
            <a:srgbClr val="A4A3A4"/>
          </p15:clr>
        </p15:guide>
        <p15:guide id="4" pos="143" userDrawn="1">
          <p15:clr>
            <a:srgbClr val="A4A3A4"/>
          </p15:clr>
        </p15:guide>
        <p15:guide id="5" orient="horz" pos="4201" userDrawn="1">
          <p15:clr>
            <a:srgbClr val="A4A3A4"/>
          </p15:clr>
        </p15:guide>
        <p15:guide id="6" orient="horz" pos="11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bviewer.org/github/jiramethtmt/predictive-maintenance-time-series/blob/main/notebooks/01_eda_scania_component_x.ipynb" TargetMode="External"/><Relationship Id="rId2" Type="http://schemas.openxmlformats.org/officeDocument/2006/relationships/hyperlink" Target="https://nbviewer.org/github/jiramethtmt/predictive-maintenance-scania-componentx/blob/main/notebooks/01_eda_scania_component_x.ipynb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i.org/10.5878/jvb5-d390" TargetMode="External"/><Relationship Id="rId5" Type="http://schemas.openxmlformats.org/officeDocument/2006/relationships/hyperlink" Target="https://github.com/jiramethtmt/predictive-maintenance-time-series" TargetMode="External"/><Relationship Id="rId4" Type="http://schemas.openxmlformats.org/officeDocument/2006/relationships/hyperlink" Target="https://github.com/jiramethtmt/predictive-maintenance-scania-componentx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2D9A1-55F7-8F11-6416-17959FA5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84ECFC-FFBD-8122-FEFD-00AA1CA8B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2510771"/>
            <a:ext cx="7200000" cy="918229"/>
          </a:xfrm>
        </p:spPr>
        <p:txBody>
          <a:bodyPr wrap="square"/>
          <a:lstStyle/>
          <a:p>
            <a:r>
              <a:rPr sz="360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Predicting component failure</a:t>
            </a:r>
            <a:endParaRPr lang="ja-JP" altLang="en-US" sz="3600" dirty="0">
              <a:solidFill>
                <a:schemeClr val="accent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3762801"/>
            <a:ext cx="8961120" cy="52937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dirty="0">
                <a:solidFill>
                  <a:srgbClr val="0055A0"/>
                </a:solidFill>
                <a:latin typeface="Segoe UI"/>
                <a:ea typeface="Segoe UI"/>
                <a:cs typeface="Segoe UI"/>
              </a:rPr>
              <a:t>Calling trucks into the workshop before the part fails</a:t>
            </a:r>
          </a:p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SCANIA Component X, 33,000 trucks, IDA 2024 challenge cost matr</a:t>
            </a:r>
            <a:r>
              <a:rPr lang="en-US" sz="12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ix</a:t>
            </a:r>
            <a:endParaRPr sz="1200" b="0" i="0" dirty="0">
              <a:solidFill>
                <a:srgbClr val="5E6E82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22291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9ECEC-0BF9-059D-7F1C-0764E6AF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7584C-BB6E-4DAE-86BC-CD229F501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405"/>
            <a:ext cx="12191999" cy="686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01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B07C0-32B2-1C0F-EB99-E14611858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33DB2E3-C79D-87B2-C968-E2290A3FA9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A2DE84-9423-F396-828D-14CDB9D256A6}"/>
              </a:ext>
            </a:extLst>
          </p:cNvPr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6CC9EE-2A43-BDD4-E61F-508E107BA884}"/>
              </a:ext>
            </a:extLst>
          </p:cNvPr>
          <p:cNvSpPr/>
          <p:nvPr/>
        </p:nvSpPr>
        <p:spPr>
          <a:xfrm>
            <a:off x="0" y="822960"/>
            <a:ext cx="12192000" cy="50292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3E9DB6-06A4-473E-732B-CB13C4398F1E}"/>
              </a:ext>
            </a:extLst>
          </p:cNvPr>
          <p:cNvSpPr txBox="1"/>
          <p:nvPr/>
        </p:nvSpPr>
        <p:spPr>
          <a:xfrm>
            <a:off x="640080" y="1308705"/>
            <a:ext cx="91440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600" b="1" i="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Overview</a:t>
            </a:r>
            <a:endParaRPr sz="2600" b="1" i="0" dirty="0">
              <a:solidFill>
                <a:schemeClr val="accent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98A9E3-69DB-21A1-822C-0C7BC72FDC02}"/>
              </a:ext>
            </a:extLst>
          </p:cNvPr>
          <p:cNvSpPr txBox="1"/>
          <p:nvPr/>
        </p:nvSpPr>
        <p:spPr>
          <a:xfrm>
            <a:off x="9966960" y="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978E01-93B6-C798-9904-C54C157B6E58}"/>
              </a:ext>
            </a:extLst>
          </p:cNvPr>
          <p:cNvSpPr/>
          <p:nvPr/>
        </p:nvSpPr>
        <p:spPr>
          <a:xfrm>
            <a:off x="640080" y="2057400"/>
            <a:ext cx="640080" cy="640080"/>
          </a:xfrm>
          <a:prstGeom prst="rect">
            <a:avLst/>
          </a:prstGeom>
          <a:solidFill>
            <a:srgbClr val="0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F64383-E488-F9D3-FEF1-B906DB169CAF}"/>
              </a:ext>
            </a:extLst>
          </p:cNvPr>
          <p:cNvSpPr txBox="1"/>
          <p:nvPr/>
        </p:nvSpPr>
        <p:spPr>
          <a:xfrm>
            <a:off x="640080" y="2093976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BCA73E-08C2-525A-7544-DEEE4EC1580C}"/>
              </a:ext>
            </a:extLst>
          </p:cNvPr>
          <p:cNvSpPr txBox="1"/>
          <p:nvPr/>
        </p:nvSpPr>
        <p:spPr>
          <a:xfrm>
            <a:off x="1600200" y="2228850"/>
            <a:ext cx="438912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 dirty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What we </a:t>
            </a:r>
            <a:r>
              <a:rPr sz="1700" b="1" i="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predict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8E506B-FB08-3E5F-0924-9B67714EE992}"/>
              </a:ext>
            </a:extLst>
          </p:cNvPr>
          <p:cNvSpPr txBox="1"/>
          <p:nvPr/>
        </p:nvSpPr>
        <p:spPr>
          <a:xfrm>
            <a:off x="6126480" y="2144268"/>
            <a:ext cx="5394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How close the monitored component is to failure, using only the readouts that truck has already sent home.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BC4704A-5D57-3F23-EB7C-DCCC874BB91A}"/>
              </a:ext>
            </a:extLst>
          </p:cNvPr>
          <p:cNvSpPr/>
          <p:nvPr/>
        </p:nvSpPr>
        <p:spPr>
          <a:xfrm>
            <a:off x="1600200" y="2898648"/>
            <a:ext cx="9921240" cy="12801"/>
          </a:xfrm>
          <a:prstGeom prst="rect">
            <a:avLst/>
          </a:prstGeom>
          <a:solidFill>
            <a:srgbClr val="E2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BB205D-D4E6-9A71-E1B7-14BD482C906C}"/>
              </a:ext>
            </a:extLst>
          </p:cNvPr>
          <p:cNvSpPr/>
          <p:nvPr/>
        </p:nvSpPr>
        <p:spPr>
          <a:xfrm>
            <a:off x="640080" y="3282696"/>
            <a:ext cx="640080" cy="640080"/>
          </a:xfrm>
          <a:prstGeom prst="rect">
            <a:avLst/>
          </a:prstGeom>
          <a:solidFill>
            <a:srgbClr val="0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BBB12B-0756-06C3-A6E1-1C20AB37892F}"/>
              </a:ext>
            </a:extLst>
          </p:cNvPr>
          <p:cNvSpPr txBox="1"/>
          <p:nvPr/>
        </p:nvSpPr>
        <p:spPr>
          <a:xfrm>
            <a:off x="640080" y="3319272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F8E5BB-25C2-FE1E-B68E-79CD670080CA}"/>
              </a:ext>
            </a:extLst>
          </p:cNvPr>
          <p:cNvSpPr txBox="1"/>
          <p:nvPr/>
        </p:nvSpPr>
        <p:spPr>
          <a:xfrm>
            <a:off x="1600200" y="3474720"/>
            <a:ext cx="438912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 dirty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What </a:t>
            </a:r>
            <a:r>
              <a:rPr sz="1700" b="1" i="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comes out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4E9D89-F3FA-B7E9-E566-2CD40ED180FB}"/>
              </a:ext>
            </a:extLst>
          </p:cNvPr>
          <p:cNvSpPr txBox="1"/>
          <p:nvPr/>
        </p:nvSpPr>
        <p:spPr>
          <a:xfrm>
            <a:off x="6126480" y="3469139"/>
            <a:ext cx="5394960" cy="217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3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We </a:t>
            </a:r>
            <a:r>
              <a:rPr sz="13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call this truck </a:t>
            </a:r>
            <a:r>
              <a:rPr lang="en-US" sz="13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to check</a:t>
            </a:r>
            <a:r>
              <a:rPr sz="13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 or leave it running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2C4D50-4AB4-8E52-20D8-3C72DA5B6F26}"/>
              </a:ext>
            </a:extLst>
          </p:cNvPr>
          <p:cNvSpPr/>
          <p:nvPr/>
        </p:nvSpPr>
        <p:spPr>
          <a:xfrm>
            <a:off x="1600200" y="4123944"/>
            <a:ext cx="9921240" cy="12801"/>
          </a:xfrm>
          <a:prstGeom prst="rect">
            <a:avLst/>
          </a:prstGeom>
          <a:solidFill>
            <a:srgbClr val="E2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EE5F7AD-8951-129F-E737-D6818789CC87}"/>
              </a:ext>
            </a:extLst>
          </p:cNvPr>
          <p:cNvSpPr/>
          <p:nvPr/>
        </p:nvSpPr>
        <p:spPr>
          <a:xfrm>
            <a:off x="640080" y="4507992"/>
            <a:ext cx="640080" cy="640080"/>
          </a:xfrm>
          <a:prstGeom prst="rect">
            <a:avLst/>
          </a:prstGeom>
          <a:solidFill>
            <a:srgbClr val="0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82591F-5036-736A-1F28-7AFDA6F14E75}"/>
              </a:ext>
            </a:extLst>
          </p:cNvPr>
          <p:cNvSpPr txBox="1"/>
          <p:nvPr/>
        </p:nvSpPr>
        <p:spPr>
          <a:xfrm>
            <a:off x="640080" y="4544568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C26D4B-D1A0-4C58-2009-A1CEA8855C85}"/>
              </a:ext>
            </a:extLst>
          </p:cNvPr>
          <p:cNvSpPr txBox="1"/>
          <p:nvPr/>
        </p:nvSpPr>
        <p:spPr>
          <a:xfrm>
            <a:off x="1600200" y="4700016"/>
            <a:ext cx="438912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 dirty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What makes it </a:t>
            </a:r>
            <a:r>
              <a:rPr sz="1700" b="1" i="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hard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3F419C-95D7-71BC-E02E-4261D17EF660}"/>
              </a:ext>
            </a:extLst>
          </p:cNvPr>
          <p:cNvSpPr txBox="1"/>
          <p:nvPr/>
        </p:nvSpPr>
        <p:spPr>
          <a:xfrm>
            <a:off x="6126480" y="4541824"/>
            <a:ext cx="5394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Only 2.7% of the fleet is at risk. The rest are healthy and must not be disturbed.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C080AB-CDCA-0231-D5D1-6889E06B067E}"/>
              </a:ext>
            </a:extLst>
          </p:cNvPr>
          <p:cNvSpPr/>
          <p:nvPr/>
        </p:nvSpPr>
        <p:spPr>
          <a:xfrm>
            <a:off x="1600200" y="5349240"/>
            <a:ext cx="9921240" cy="12801"/>
          </a:xfrm>
          <a:prstGeom prst="rect">
            <a:avLst/>
          </a:prstGeom>
          <a:solidFill>
            <a:srgbClr val="E2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0695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2000" cy="50292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60" y="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14956"/>
            <a:ext cx="10881360" cy="387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lang="en-US" sz="2600" b="1" i="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We evaluate resul</a:t>
            </a:r>
            <a:r>
              <a:rPr lang="en-US" sz="2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 with cost</a:t>
            </a:r>
            <a:endParaRPr sz="2600" b="1" i="0" dirty="0">
              <a:solidFill>
                <a:schemeClr val="accent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5166360" cy="1554480"/>
          </a:xfrm>
          <a:prstGeom prst="rect">
            <a:avLst/>
          </a:prstGeom>
          <a:solidFill>
            <a:srgbClr val="0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128016" cy="1554480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359152"/>
            <a:ext cx="4343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Missing a failure costs 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26079"/>
            <a:ext cx="434340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 dirty="0">
                <a:solidFill>
                  <a:srgbClr val="B7CBE1"/>
                </a:solidFill>
                <a:latin typeface="Segoe UI"/>
                <a:ea typeface="Segoe UI"/>
                <a:cs typeface="Segoe UI"/>
              </a:rPr>
              <a:t>The truck fails in service. This is the number the whole design is built around.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82512" y="2103120"/>
            <a:ext cx="5166360" cy="1554480"/>
          </a:xfrm>
          <a:prstGeom prst="rect">
            <a:avLst/>
          </a:prstGeom>
          <a:solidFill>
            <a:srgbClr val="0C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82512" y="2103120"/>
            <a:ext cx="128016" cy="1554480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93992" y="2359152"/>
            <a:ext cx="4343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wasted check costs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2926079"/>
            <a:ext cx="434340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B7CBE1"/>
                </a:solidFill>
                <a:latin typeface="Segoe UI"/>
                <a:ea typeface="Segoe UI"/>
                <a:cs typeface="Segoe UI"/>
              </a:rPr>
              <a:t>A workshop inspection that finds nothing is cheap by comparison.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5166360" cy="1554480"/>
          </a:xfrm>
          <a:prstGeom prst="rect">
            <a:avLst/>
          </a:prstGeom>
          <a:solidFill>
            <a:srgbClr val="0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128016" cy="1554480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187952"/>
            <a:ext cx="4343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One catch pays for 50 </a:t>
            </a:r>
            <a:r>
              <a:rPr lang="en-US" sz="1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called trucks</a:t>
            </a:r>
            <a:endParaRPr sz="1600" b="1" i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" y="4754880"/>
            <a:ext cx="434340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B7CBE1"/>
                </a:solidFill>
                <a:latin typeface="Segoe UI"/>
                <a:ea typeface="Segoe UI"/>
                <a:cs typeface="Segoe UI"/>
              </a:rPr>
              <a:t>Low precision is correct here. Optimising precision on this loss destroys value.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82512" y="3931920"/>
            <a:ext cx="5166360" cy="1554480"/>
          </a:xfrm>
          <a:prstGeom prst="rect">
            <a:avLst/>
          </a:prstGeom>
          <a:solidFill>
            <a:srgbClr val="0C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82512" y="3931920"/>
            <a:ext cx="128016" cy="1554480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93992" y="4187952"/>
            <a:ext cx="4343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If we check every trucks we got 97% corrects</a:t>
            </a:r>
            <a:endParaRPr sz="1600" b="1" i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93992" y="4754880"/>
            <a:ext cx="434340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B7CBE1"/>
                </a:solidFill>
                <a:latin typeface="Segoe UI"/>
                <a:ea typeface="Segoe UI"/>
                <a:cs typeface="Segoe UI"/>
              </a:rPr>
              <a:t>A model graded on accuracy predicts healthy for everyone and saves nothing.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2000" cy="50292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25167"/>
            <a:ext cx="91440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600" b="1" i="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Results</a:t>
            </a:r>
            <a:endParaRPr sz="2600" b="1" i="0" dirty="0">
              <a:solidFill>
                <a:schemeClr val="accent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60" y="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85395"/>
            <a:ext cx="10972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 dirty="0">
                <a:solidFill>
                  <a:srgbClr val="0055A0"/>
                </a:solidFill>
                <a:latin typeface="Segoe UI"/>
                <a:ea typeface="Segoe UI"/>
                <a:cs typeface="Segoe UI"/>
              </a:rPr>
              <a:t>Total challenge cost on the 5,045-truck test set. </a:t>
            </a:r>
            <a:r>
              <a:rPr lang="en-US" sz="1500" b="1" i="0" dirty="0">
                <a:solidFill>
                  <a:srgbClr val="0055A0"/>
                </a:solidFill>
                <a:latin typeface="Segoe UI"/>
                <a:ea typeface="Segoe UI"/>
                <a:cs typeface="Segoe UI"/>
              </a:rPr>
              <a:t>(</a:t>
            </a:r>
            <a:r>
              <a:rPr sz="1500" b="1" i="0" dirty="0">
                <a:solidFill>
                  <a:srgbClr val="0055A0"/>
                </a:solidFill>
                <a:latin typeface="Segoe UI"/>
                <a:ea typeface="Segoe UI"/>
                <a:cs typeface="Segoe UI"/>
              </a:rPr>
              <a:t>Lower is better</a:t>
            </a:r>
            <a:r>
              <a:rPr lang="en-US" sz="1500" b="1" dirty="0">
                <a:solidFill>
                  <a:srgbClr val="0055A0"/>
                </a:solidFill>
                <a:latin typeface="Segoe UI"/>
                <a:ea typeface="Segoe UI"/>
                <a:cs typeface="Segoe UI"/>
              </a:rPr>
              <a:t>)</a:t>
            </a:r>
            <a:endParaRPr sz="1500" b="1" i="0" dirty="0">
              <a:solidFill>
                <a:srgbClr val="0055A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941508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 i="0" dirty="0">
                <a:solidFill>
                  <a:srgbClr val="0055A0"/>
                </a:solidFill>
                <a:latin typeface="Segoe UI"/>
                <a:ea typeface="Segoe UI"/>
                <a:cs typeface="Segoe UI"/>
              </a:rPr>
              <a:t>35,469 ± 849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0328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Mean of </a:t>
            </a:r>
            <a:r>
              <a:rPr lang="en-US" sz="13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3</a:t>
            </a:r>
            <a:r>
              <a:rPr sz="13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 seeds. 29% cheaper than checking every truck</a:t>
            </a:r>
            <a:r>
              <a:rPr lang="en-US" sz="130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 and </a:t>
            </a:r>
            <a:r>
              <a:rPr sz="13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catching 77% of the at-risk fleet.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7360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Our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3563874"/>
            <a:ext cx="3815629" cy="566928"/>
          </a:xfrm>
          <a:prstGeom prst="rect">
            <a:avLst/>
          </a:prstGeom>
          <a:solidFill>
            <a:srgbClr val="0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84709" y="368274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55A0"/>
                </a:solidFill>
                <a:latin typeface="Segoe UI"/>
                <a:ea typeface="Segoe UI"/>
                <a:cs typeface="Segoe UI"/>
              </a:rPr>
              <a:t>35,469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9656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Check every truck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4386833"/>
            <a:ext cx="5343430" cy="566928"/>
          </a:xfrm>
          <a:prstGeom prst="rect">
            <a:avLst/>
          </a:prstGeom>
          <a:solidFill>
            <a:srgbClr val="0C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2510" y="4505705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49,671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19522"/>
            <a:ext cx="3108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400" dirty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Not check any trucks</a:t>
            </a:r>
            <a:endParaRPr sz="1400" b="0" i="0" dirty="0">
              <a:solidFill>
                <a:srgbClr val="14243A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931920" y="5209794"/>
            <a:ext cx="6035040" cy="56692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04119" y="532866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56,100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2000" cy="50292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161653"/>
            <a:ext cx="91440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600" b="1" i="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Results Deep-dive</a:t>
            </a:r>
            <a:endParaRPr sz="2600" b="1" i="0" dirty="0">
              <a:solidFill>
                <a:schemeClr val="accent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60" y="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952A1E49-AC58-AB16-BBFA-A6CC9A018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998166"/>
              </p:ext>
            </p:extLst>
          </p:nvPr>
        </p:nvGraphicFramePr>
        <p:xfrm>
          <a:off x="1024128" y="2308402"/>
          <a:ext cx="4782312" cy="3040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C42679EA-279D-5FA3-0E6C-C23BB63C7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353818"/>
              </p:ext>
            </p:extLst>
          </p:nvPr>
        </p:nvGraphicFramePr>
        <p:xfrm>
          <a:off x="6535859" y="2107484"/>
          <a:ext cx="4846231" cy="3213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18CB943D-E613-DD27-6171-68D2FAE9ED63}"/>
              </a:ext>
            </a:extLst>
          </p:cNvPr>
          <p:cNvSpPr txBox="1"/>
          <p:nvPr/>
        </p:nvSpPr>
        <p:spPr>
          <a:xfrm>
            <a:off x="832104" y="5431536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Of the 142 trucks that were going to fail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AA7837-C3B7-D280-CA6D-8539A066EF6D}"/>
              </a:ext>
            </a:extLst>
          </p:cNvPr>
          <p:cNvSpPr txBox="1"/>
          <p:nvPr/>
        </p:nvSpPr>
        <p:spPr>
          <a:xfrm>
            <a:off x="6215730" y="5416256"/>
            <a:ext cx="5166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Of the whole fleet</a:t>
            </a:r>
            <a:r>
              <a:rPr lang="en-US" sz="120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who gets called in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3E8C85-EB3D-C4FA-7030-52A555B0C1C7}"/>
              </a:ext>
            </a:extLst>
          </p:cNvPr>
          <p:cNvSpPr/>
          <p:nvPr/>
        </p:nvSpPr>
        <p:spPr>
          <a:xfrm>
            <a:off x="640080" y="5943600"/>
            <a:ext cx="10881360" cy="56692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9CBDF74-DFD5-ECA2-F978-CF4A1AB5F68E}"/>
              </a:ext>
            </a:extLst>
          </p:cNvPr>
          <p:cNvSpPr/>
          <p:nvPr/>
        </p:nvSpPr>
        <p:spPr>
          <a:xfrm>
            <a:off x="640080" y="5943600"/>
            <a:ext cx="128016" cy="566928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943BC8-7BF4-ED3A-BADA-D52F3142DDF5}"/>
              </a:ext>
            </a:extLst>
          </p:cNvPr>
          <p:cNvSpPr txBox="1"/>
          <p:nvPr/>
        </p:nvSpPr>
        <p:spPr>
          <a:xfrm>
            <a:off x="1024128" y="614476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Checking all 5,045 would catch every failure and cost 40% more. The 33 missed trucks are where further work pays.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E90825-2ED0-371C-1D54-67A0EF2EB5CA}"/>
              </a:ext>
            </a:extLst>
          </p:cNvPr>
          <p:cNvSpPr txBox="1"/>
          <p:nvPr/>
        </p:nvSpPr>
        <p:spPr>
          <a:xfrm>
            <a:off x="2967510" y="3428711"/>
            <a:ext cx="91440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600" b="1" i="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76.7%</a:t>
            </a:r>
            <a:endParaRPr sz="2600" b="1" i="0" dirty="0">
              <a:solidFill>
                <a:schemeClr val="accent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0CD6A2-0413-CA62-BBDA-AA08289447C1}"/>
              </a:ext>
            </a:extLst>
          </p:cNvPr>
          <p:cNvSpPr txBox="1"/>
          <p:nvPr/>
        </p:nvSpPr>
        <p:spPr>
          <a:xfrm>
            <a:off x="658368" y="1665757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 dirty="0">
                <a:solidFill>
                  <a:srgbClr val="0055A0"/>
                </a:solidFill>
                <a:latin typeface="Segoe UI"/>
                <a:ea typeface="Segoe UI"/>
                <a:cs typeface="Segoe UI"/>
              </a:rPr>
              <a:t>At the tuned operating point, on the 5,045-truck test 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2000" cy="50292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207420"/>
            <a:ext cx="91440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Against the published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702426"/>
            <a:ext cx="10972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 dirty="0">
                <a:solidFill>
                  <a:srgbClr val="0055A0"/>
                </a:solidFill>
                <a:latin typeface="Segoe UI"/>
                <a:ea typeface="Segoe UI"/>
                <a:cs typeface="Segoe UI"/>
              </a:rPr>
              <a:t>Every result published on this benchmark</a:t>
            </a:r>
            <a:r>
              <a:rPr lang="en-US" sz="1500" b="1" dirty="0">
                <a:solidFill>
                  <a:srgbClr val="0055A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i="0" dirty="0">
                <a:solidFill>
                  <a:srgbClr val="0055A0"/>
                </a:solidFill>
                <a:latin typeface="Segoe UI"/>
                <a:ea typeface="Segoe UI"/>
                <a:cs typeface="Segoe UI"/>
              </a:rPr>
              <a:t>by total test cost.</a:t>
            </a:r>
            <a:r>
              <a:rPr lang="th-TH" sz="1500" b="1" i="0" dirty="0">
                <a:solidFill>
                  <a:srgbClr val="0055A0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1500" b="1" i="0" dirty="0">
                <a:solidFill>
                  <a:srgbClr val="0055A0"/>
                </a:solidFill>
                <a:latin typeface="Segoe UI"/>
                <a:ea typeface="Segoe UI"/>
                <a:cs typeface="Segoe UI"/>
              </a:rPr>
              <a:t>( Lower is better )</a:t>
            </a:r>
            <a:endParaRPr sz="1500" b="1" i="0" dirty="0">
              <a:solidFill>
                <a:srgbClr val="0055A0"/>
              </a:solidFill>
              <a:latin typeface="Segoe UI"/>
              <a:ea typeface="Segoe UI"/>
              <a:cs typeface="Segoe UI"/>
            </a:endParaRP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3AA99930-3232-87B2-E9C0-99C315DA4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678807"/>
              </p:ext>
            </p:extLst>
          </p:nvPr>
        </p:nvGraphicFramePr>
        <p:xfrm>
          <a:off x="640080" y="2042282"/>
          <a:ext cx="1088136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A4B180EA-9533-380E-D9C4-5E1006D7D164}"/>
              </a:ext>
            </a:extLst>
          </p:cNvPr>
          <p:cNvSpPr/>
          <p:nvPr/>
        </p:nvSpPr>
        <p:spPr>
          <a:xfrm>
            <a:off x="640080" y="5562900"/>
            <a:ext cx="10881360" cy="8379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80BF09-DFC7-A0A2-4D2C-B2900784E3DC}"/>
              </a:ext>
            </a:extLst>
          </p:cNvPr>
          <p:cNvSpPr/>
          <p:nvPr/>
        </p:nvSpPr>
        <p:spPr>
          <a:xfrm>
            <a:off x="640080" y="5562900"/>
            <a:ext cx="128016" cy="837900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CA30D7-9D16-454F-4A16-D796823909E8}"/>
              </a:ext>
            </a:extLst>
          </p:cNvPr>
          <p:cNvSpPr txBox="1"/>
          <p:nvPr/>
        </p:nvSpPr>
        <p:spPr>
          <a:xfrm>
            <a:off x="1024128" y="5778830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The target is 37,733, the model the leading study selected on validation. We are 2,264 ahead of it, wider than our own seed spread of 849.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5A2F47-0E31-FC27-C949-EF5DB37AB063}"/>
              </a:ext>
            </a:extLst>
          </p:cNvPr>
          <p:cNvSpPr txBox="1"/>
          <p:nvPr/>
        </p:nvSpPr>
        <p:spPr>
          <a:xfrm>
            <a:off x="1024128" y="5989142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They used AutoGluon too, so the gap comes from the training rows and the decision rule, not the toolkit.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545"/>
            <a:ext cx="12192000" cy="822960"/>
          </a:xfrm>
          <a:prstGeom prst="rect">
            <a:avLst/>
          </a:prstGeom>
          <a:solidFill>
            <a:srgbClr val="0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2000" cy="50292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1667667"/>
            <a:ext cx="91440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600" b="1" i="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How to use this model?</a:t>
            </a:r>
            <a:endParaRPr sz="2600" b="1" i="0" dirty="0">
              <a:solidFill>
                <a:schemeClr val="accent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60" y="288369"/>
            <a:ext cx="15544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lang="en-US" sz="1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</a:t>
            </a:r>
            <a:endParaRPr sz="1600" b="1" i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2096322"/>
            <a:ext cx="10972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 dirty="0">
                <a:solidFill>
                  <a:srgbClr val="0055A0"/>
                </a:solidFill>
                <a:latin typeface="Segoe UI"/>
                <a:ea typeface="Segoe UI"/>
                <a:cs typeface="Segoe UI"/>
              </a:rPr>
              <a:t>Batch scoring on each upload</a:t>
            </a:r>
            <a:r>
              <a:rPr lang="en-US" sz="1500" b="1" dirty="0">
                <a:solidFill>
                  <a:srgbClr val="0055A0"/>
                </a:solidFill>
                <a:latin typeface="Segoe UI"/>
                <a:ea typeface="Segoe UI"/>
                <a:cs typeface="Segoe UI"/>
              </a:rPr>
              <a:t> cycle</a:t>
            </a:r>
            <a:endParaRPr sz="1500" b="1" i="0" dirty="0">
              <a:solidFill>
                <a:srgbClr val="0055A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2553522"/>
            <a:ext cx="2377440" cy="1325880"/>
          </a:xfrm>
          <a:prstGeom prst="rect">
            <a:avLst/>
          </a:prstGeom>
          <a:solidFill>
            <a:srgbClr val="0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553522"/>
            <a:ext cx="109728" cy="1325880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19" y="284613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F3F7FC"/>
                </a:solidFill>
                <a:latin typeface="Segoe UI"/>
                <a:ea typeface="Segoe UI"/>
                <a:cs typeface="Segoe UI"/>
              </a:rPr>
              <a:t>New readouts arrive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27248" y="3083874"/>
            <a:ext cx="292608" cy="274320"/>
          </a:xfrm>
          <a:prstGeom prst="rightArrow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39" y="2553522"/>
            <a:ext cx="2377440" cy="1325880"/>
          </a:xfrm>
          <a:prstGeom prst="rect">
            <a:avLst/>
          </a:prstGeom>
          <a:solidFill>
            <a:srgbClr val="0C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39" y="2553522"/>
            <a:ext cx="109728" cy="1325880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79" y="284613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F3F7FC"/>
                </a:solidFill>
                <a:latin typeface="Segoe UI"/>
                <a:ea typeface="Segoe UI"/>
                <a:cs typeface="Segoe UI"/>
              </a:rPr>
              <a:t>Features at the cut point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07608" y="3083874"/>
            <a:ext cx="292608" cy="274320"/>
          </a:xfrm>
          <a:prstGeom prst="rightArrow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2553522"/>
            <a:ext cx="2377440" cy="1325880"/>
          </a:xfrm>
          <a:prstGeom prst="rect">
            <a:avLst/>
          </a:prstGeom>
          <a:solidFill>
            <a:srgbClr val="0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2553522"/>
            <a:ext cx="109728" cy="1325880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284613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F3F7FC"/>
                </a:solidFill>
                <a:latin typeface="Segoe UI"/>
                <a:ea typeface="Segoe UI"/>
                <a:cs typeface="Segoe UI"/>
              </a:rPr>
              <a:t>Risk and cost rule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87968" y="3083874"/>
            <a:ext cx="292608" cy="274320"/>
          </a:xfrm>
          <a:prstGeom prst="rightArrow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81159" y="2553522"/>
            <a:ext cx="2377440" cy="1325880"/>
          </a:xfrm>
          <a:prstGeom prst="rect">
            <a:avLst/>
          </a:prstGeom>
          <a:solidFill>
            <a:srgbClr val="0C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81159" y="2553522"/>
            <a:ext cx="109728" cy="1325880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199" y="284613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F3F7FC"/>
                </a:solidFill>
                <a:latin typeface="Segoe UI"/>
                <a:ea typeface="Segoe UI"/>
                <a:cs typeface="Segoe UI"/>
              </a:rPr>
              <a:t>Ranked work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28041"/>
            <a:ext cx="10881360" cy="9601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428041"/>
            <a:ext cx="128016" cy="960120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467662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 dirty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Every dispatched truck returns a label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94925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Found or not found feeds the next training round. Without that loop the model stops improving on day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2000" cy="50292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5320" y="1383329"/>
            <a:ext cx="91440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600" b="1" i="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Appen</a:t>
            </a:r>
            <a:r>
              <a:rPr lang="en-US" sz="2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dix</a:t>
            </a:r>
            <a:endParaRPr sz="2600" b="1" i="0" dirty="0">
              <a:solidFill>
                <a:schemeClr val="accent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60" y="288369"/>
            <a:ext cx="15544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8</a:t>
            </a:r>
            <a:endParaRPr sz="1600" b="1" i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5320" y="2097794"/>
            <a:ext cx="10881360" cy="10515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5320" y="2097794"/>
            <a:ext cx="146304" cy="1051560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6800" y="2280674"/>
            <a:ext cx="100584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 dirty="0">
                <a:solidFill>
                  <a:srgbClr val="0055A0"/>
                </a:solidFill>
                <a:latin typeface="Segoe UI"/>
                <a:ea typeface="Segoe UI"/>
                <a:cs typeface="Segoe UI"/>
                <a:hlinkClick r:id="rId2"/>
              </a:rPr>
              <a:t>Open the full EDA notebook</a:t>
            </a:r>
            <a:endParaRPr sz="1700" b="1" i="0" dirty="0">
              <a:solidFill>
                <a:srgbClr val="0055A0"/>
              </a:solidFill>
              <a:latin typeface="Segoe UI"/>
              <a:ea typeface="Segoe UI"/>
              <a:cs typeface="Segoe UI"/>
              <a:hlinkClick r:id="rId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6800" y="2719586"/>
            <a:ext cx="10058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dirty="0">
                <a:solidFill>
                  <a:srgbClr val="5E6E82"/>
                </a:solidFill>
                <a:ea typeface="Segoe UI"/>
                <a:cs typeface="Segoe UI"/>
              </a:rPr>
              <a:t>https://nbviewer.org/github/jiramethtmt/predictive-maintenance-scania-componentx/blob/main/notebooks/01_eda_scania_component_x.ipynb</a:t>
            </a:r>
            <a:endParaRPr sz="1100" b="0" i="0" dirty="0">
              <a:solidFill>
                <a:srgbClr val="5E6E8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5320" y="3377954"/>
            <a:ext cx="10881360" cy="10515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5320" y="3377954"/>
            <a:ext cx="146304" cy="1051560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6800" y="3560834"/>
            <a:ext cx="100584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 dirty="0">
                <a:solidFill>
                  <a:srgbClr val="0055A0"/>
                </a:solidFill>
                <a:latin typeface="Segoe UI"/>
                <a:ea typeface="Segoe UI"/>
                <a:cs typeface="Segoe UI"/>
                <a:hlinkClick r:id="rId4"/>
              </a:rPr>
              <a:t>Repository, code and reproduction steps</a:t>
            </a:r>
            <a:endParaRPr sz="1700" b="1" i="0" dirty="0">
              <a:solidFill>
                <a:srgbClr val="0055A0"/>
              </a:solidFill>
              <a:latin typeface="Segoe UI"/>
              <a:ea typeface="Segoe UI"/>
              <a:cs typeface="Segoe UI"/>
              <a:hlinkClick r:id="rId5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6800" y="3999745"/>
            <a:ext cx="10058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https://github.com/jiramethtmt/predictive-maintenance-</a:t>
            </a:r>
            <a:r>
              <a:rPr lang="en-US" sz="1100" b="0" i="0" dirty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scania-componentx</a:t>
            </a:r>
            <a:endParaRPr sz="1100" b="0" i="0" dirty="0">
              <a:solidFill>
                <a:srgbClr val="5E6E8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5320" y="4658114"/>
            <a:ext cx="10881360" cy="10515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5320" y="4658114"/>
            <a:ext cx="146304" cy="1051560"/>
          </a:xfrm>
          <a:prstGeom prst="rect">
            <a:avLst/>
          </a:prstGeom>
          <a:solidFill>
            <a:srgbClr val="00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6800" y="4840994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55A0"/>
                </a:solidFill>
                <a:latin typeface="Segoe UI"/>
                <a:ea typeface="Segoe UI"/>
                <a:cs typeface="Segoe UI"/>
                <a:hlinkClick r:id="rId6"/>
              </a:rPr>
              <a:t>SCANIA Component X dataset, CC BY 4.0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5279906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E82"/>
                </a:solidFill>
                <a:latin typeface="Segoe UI"/>
                <a:ea typeface="Segoe UI"/>
                <a:cs typeface="Segoe UI"/>
              </a:rPr>
              <a:t>https://doi.org/10.5878/jvb5-d390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80BD27-BBEF-EFB9-B3CC-34406DB50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907" y="109409"/>
            <a:ext cx="10515600" cy="481490"/>
          </a:xfrm>
        </p:spPr>
        <p:txBody>
          <a:bodyPr/>
          <a:lstStyle/>
          <a:p>
            <a:r>
              <a:rPr lang="en-US" altLang="ja-JP" i="1" dirty="0">
                <a:latin typeface="+mj-ea"/>
                <a:ea typeface="+mj-ea"/>
                <a:cs typeface="+mj-ea"/>
              </a:rPr>
              <a:t>Contact us</a:t>
            </a:r>
            <a:endParaRPr lang="ja-JP" altLang="en-US" dirty="0"/>
          </a:p>
        </p:txBody>
      </p:sp>
      <p:sp>
        <p:nvSpPr>
          <p:cNvPr id="12" name="TextBox 53">
            <a:extLst>
              <a:ext uri="{FF2B5EF4-FFF2-40B4-BE49-F238E27FC236}">
                <a16:creationId xmlns:a16="http://schemas.microsoft.com/office/drawing/2014/main" id="{B8467FAC-72B8-8FC4-C138-93E327F090C2}"/>
              </a:ext>
            </a:extLst>
          </p:cNvPr>
          <p:cNvSpPr txBox="1"/>
          <p:nvPr/>
        </p:nvSpPr>
        <p:spPr>
          <a:xfrm>
            <a:off x="1371658" y="1421987"/>
            <a:ext cx="2275816" cy="31200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</a:rPr>
              <a:t>info@tomastc.com</a:t>
            </a:r>
          </a:p>
        </p:txBody>
      </p:sp>
      <p:sp>
        <p:nvSpPr>
          <p:cNvPr id="13" name="TextBox 58">
            <a:extLst>
              <a:ext uri="{FF2B5EF4-FFF2-40B4-BE49-F238E27FC236}">
                <a16:creationId xmlns:a16="http://schemas.microsoft.com/office/drawing/2014/main" id="{F4DEE9DD-88AF-4E85-5F4E-4629418992E4}"/>
              </a:ext>
            </a:extLst>
          </p:cNvPr>
          <p:cNvSpPr txBox="1"/>
          <p:nvPr/>
        </p:nvSpPr>
        <p:spPr>
          <a:xfrm>
            <a:off x="1371658" y="2278662"/>
            <a:ext cx="3292568" cy="114300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</a:rPr>
              <a:t>TH/EN   : +66-81-012-6064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</a:rPr>
              <a:t>JP /EN   </a:t>
            </a:r>
            <a:r>
              <a:rPr lang="en-GB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</a:rPr>
              <a:t>: +66-94-552-3097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</a:rPr>
              <a:t>VN / EN : +84-90-322-2209</a:t>
            </a:r>
          </a:p>
        </p:txBody>
      </p:sp>
      <p:sp>
        <p:nvSpPr>
          <p:cNvPr id="14" name="TextBox 59">
            <a:extLst>
              <a:ext uri="{FF2B5EF4-FFF2-40B4-BE49-F238E27FC236}">
                <a16:creationId xmlns:a16="http://schemas.microsoft.com/office/drawing/2014/main" id="{C5F544AB-A49C-8D62-CA75-FA0D8827766C}"/>
              </a:ext>
            </a:extLst>
          </p:cNvPr>
          <p:cNvSpPr txBox="1"/>
          <p:nvPr/>
        </p:nvSpPr>
        <p:spPr>
          <a:xfrm>
            <a:off x="1371658" y="4094602"/>
            <a:ext cx="1620765" cy="31200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altLang="ja-JP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TOMAS</a:t>
            </a:r>
            <a:r>
              <a:rPr lang="ja-JP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 </a:t>
            </a:r>
            <a:r>
              <a:rPr lang="en-US" altLang="ja-JP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TECH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ea typeface="Fira Sans SemiBold Italic" panose="00000700000000000000" pitchFamily="50" charset="0"/>
              <a:cs typeface="Clear Sans Light" panose="020B0303030202020304" pitchFamily="34" charset="0"/>
              <a:sym typeface="Open Sans Light" charset="0"/>
            </a:endParaRPr>
          </a:p>
        </p:txBody>
      </p:sp>
      <p:sp>
        <p:nvSpPr>
          <p:cNvPr id="15" name="TextBox 60">
            <a:extLst>
              <a:ext uri="{FF2B5EF4-FFF2-40B4-BE49-F238E27FC236}">
                <a16:creationId xmlns:a16="http://schemas.microsoft.com/office/drawing/2014/main" id="{DB73C7F6-621C-A955-08AB-8331ED4B81D8}"/>
              </a:ext>
            </a:extLst>
          </p:cNvPr>
          <p:cNvSpPr txBox="1"/>
          <p:nvPr/>
        </p:nvSpPr>
        <p:spPr>
          <a:xfrm>
            <a:off x="1371658" y="5215595"/>
            <a:ext cx="3030188" cy="31200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http://www.tomastc.com</a:t>
            </a:r>
          </a:p>
        </p:txBody>
      </p:sp>
      <p:sp>
        <p:nvSpPr>
          <p:cNvPr id="18" name="TextBox 60">
            <a:extLst>
              <a:ext uri="{FF2B5EF4-FFF2-40B4-BE49-F238E27FC236}">
                <a16:creationId xmlns:a16="http://schemas.microsoft.com/office/drawing/2014/main" id="{74981D09-2347-93BD-FA42-B6D05F3D43E4}"/>
              </a:ext>
            </a:extLst>
          </p:cNvPr>
          <p:cNvSpPr txBox="1"/>
          <p:nvPr/>
        </p:nvSpPr>
        <p:spPr>
          <a:xfrm>
            <a:off x="5209999" y="1252263"/>
            <a:ext cx="5385611" cy="31200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b="1" dirty="0">
                <a:solidFill>
                  <a:schemeClr val="accent1"/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TOMAS TECH CO., LTD. (Head Office)</a:t>
            </a: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389BC9D7-4937-C1A0-8F50-BE46EEBD879A}"/>
              </a:ext>
            </a:extLst>
          </p:cNvPr>
          <p:cNvGrpSpPr/>
          <p:nvPr/>
        </p:nvGrpSpPr>
        <p:grpSpPr>
          <a:xfrm>
            <a:off x="430846" y="1254419"/>
            <a:ext cx="647145" cy="647145"/>
            <a:chOff x="905631" y="1557572"/>
            <a:chExt cx="647145" cy="647145"/>
          </a:xfrm>
        </p:grpSpPr>
        <p:sp>
          <p:nvSpPr>
            <p:cNvPr id="5" name="Shape 987">
              <a:extLst>
                <a:ext uri="{FF2B5EF4-FFF2-40B4-BE49-F238E27FC236}">
                  <a16:creationId xmlns:a16="http://schemas.microsoft.com/office/drawing/2014/main" id="{9DC68F48-E860-298E-3252-357D57549193}"/>
                </a:ext>
              </a:extLst>
            </p:cNvPr>
            <p:cNvSpPr/>
            <p:nvPr/>
          </p:nvSpPr>
          <p:spPr>
            <a:xfrm>
              <a:off x="905631" y="1557572"/>
              <a:ext cx="647145" cy="64714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Freeform 92">
              <a:extLst>
                <a:ext uri="{FF2B5EF4-FFF2-40B4-BE49-F238E27FC236}">
                  <a16:creationId xmlns:a16="http://schemas.microsoft.com/office/drawing/2014/main" id="{F6FAFB23-FB91-25AA-8641-33DF256F56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2979" y="1786911"/>
              <a:ext cx="292448" cy="188466"/>
            </a:xfrm>
            <a:custGeom>
              <a:avLst/>
              <a:gdLst>
                <a:gd name="T0" fmla="*/ 89 w 95"/>
                <a:gd name="T1" fmla="*/ 0 h 61"/>
                <a:gd name="T2" fmla="*/ 5 w 95"/>
                <a:gd name="T3" fmla="*/ 0 h 61"/>
                <a:gd name="T4" fmla="*/ 1 w 95"/>
                <a:gd name="T5" fmla="*/ 1 h 61"/>
                <a:gd name="T6" fmla="*/ 0 w 95"/>
                <a:gd name="T7" fmla="*/ 5 h 61"/>
                <a:gd name="T8" fmla="*/ 45 w 95"/>
                <a:gd name="T9" fmla="*/ 39 h 61"/>
                <a:gd name="T10" fmla="*/ 47 w 95"/>
                <a:gd name="T11" fmla="*/ 40 h 61"/>
                <a:gd name="T12" fmla="*/ 50 w 95"/>
                <a:gd name="T13" fmla="*/ 39 h 61"/>
                <a:gd name="T14" fmla="*/ 95 w 95"/>
                <a:gd name="T15" fmla="*/ 5 h 61"/>
                <a:gd name="T16" fmla="*/ 93 w 95"/>
                <a:gd name="T17" fmla="*/ 1 h 61"/>
                <a:gd name="T18" fmla="*/ 89 w 95"/>
                <a:gd name="T19" fmla="*/ 0 h 61"/>
                <a:gd name="T20" fmla="*/ 95 w 95"/>
                <a:gd name="T21" fmla="*/ 50 h 61"/>
                <a:gd name="T22" fmla="*/ 70 w 95"/>
                <a:gd name="T23" fmla="*/ 30 h 61"/>
                <a:gd name="T24" fmla="*/ 95 w 95"/>
                <a:gd name="T25" fmla="*/ 11 h 61"/>
                <a:gd name="T26" fmla="*/ 95 w 95"/>
                <a:gd name="T27" fmla="*/ 50 h 61"/>
                <a:gd name="T28" fmla="*/ 93 w 95"/>
                <a:gd name="T29" fmla="*/ 60 h 61"/>
                <a:gd name="T30" fmla="*/ 89 w 95"/>
                <a:gd name="T31" fmla="*/ 61 h 61"/>
                <a:gd name="T32" fmla="*/ 5 w 95"/>
                <a:gd name="T33" fmla="*/ 61 h 61"/>
                <a:gd name="T34" fmla="*/ 1 w 95"/>
                <a:gd name="T35" fmla="*/ 60 h 61"/>
                <a:gd name="T36" fmla="*/ 0 w 95"/>
                <a:gd name="T37" fmla="*/ 56 h 61"/>
                <a:gd name="T38" fmla="*/ 29 w 95"/>
                <a:gd name="T39" fmla="*/ 34 h 61"/>
                <a:gd name="T40" fmla="*/ 43 w 95"/>
                <a:gd name="T41" fmla="*/ 44 h 61"/>
                <a:gd name="T42" fmla="*/ 47 w 95"/>
                <a:gd name="T43" fmla="*/ 45 h 61"/>
                <a:gd name="T44" fmla="*/ 52 w 95"/>
                <a:gd name="T45" fmla="*/ 44 h 61"/>
                <a:gd name="T46" fmla="*/ 66 w 95"/>
                <a:gd name="T47" fmla="*/ 34 h 61"/>
                <a:gd name="T48" fmla="*/ 95 w 95"/>
                <a:gd name="T49" fmla="*/ 56 h 61"/>
                <a:gd name="T50" fmla="*/ 93 w 95"/>
                <a:gd name="T51" fmla="*/ 60 h 61"/>
                <a:gd name="T52" fmla="*/ 0 w 95"/>
                <a:gd name="T53" fmla="*/ 11 h 61"/>
                <a:gd name="T54" fmla="*/ 25 w 95"/>
                <a:gd name="T55" fmla="*/ 30 h 61"/>
                <a:gd name="T56" fmla="*/ 0 w 95"/>
                <a:gd name="T57" fmla="*/ 50 h 61"/>
                <a:gd name="T58" fmla="*/ 0 w 95"/>
                <a:gd name="T59" fmla="*/ 1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5" h="61">
                  <a:moveTo>
                    <a:pt x="89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0" y="2"/>
                    <a:pt x="0" y="4"/>
                    <a:pt x="0" y="5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40"/>
                    <a:pt x="46" y="40"/>
                    <a:pt x="47" y="40"/>
                  </a:cubicBezTo>
                  <a:cubicBezTo>
                    <a:pt x="48" y="40"/>
                    <a:pt x="49" y="40"/>
                    <a:pt x="50" y="39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4"/>
                    <a:pt x="94" y="2"/>
                    <a:pt x="93" y="1"/>
                  </a:cubicBezTo>
                  <a:cubicBezTo>
                    <a:pt x="92" y="0"/>
                    <a:pt x="91" y="0"/>
                    <a:pt x="89" y="0"/>
                  </a:cubicBezTo>
                  <a:close/>
                  <a:moveTo>
                    <a:pt x="95" y="50"/>
                  </a:moveTo>
                  <a:cubicBezTo>
                    <a:pt x="70" y="30"/>
                    <a:pt x="70" y="30"/>
                    <a:pt x="70" y="30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50"/>
                    <a:pt x="95" y="50"/>
                    <a:pt x="95" y="50"/>
                  </a:cubicBezTo>
                  <a:close/>
                  <a:moveTo>
                    <a:pt x="93" y="60"/>
                  </a:moveTo>
                  <a:cubicBezTo>
                    <a:pt x="92" y="61"/>
                    <a:pt x="91" y="61"/>
                    <a:pt x="89" y="61"/>
                  </a:cubicBezTo>
                  <a:cubicBezTo>
                    <a:pt x="5" y="61"/>
                    <a:pt x="5" y="61"/>
                    <a:pt x="5" y="61"/>
                  </a:cubicBezTo>
                  <a:cubicBezTo>
                    <a:pt x="4" y="61"/>
                    <a:pt x="2" y="61"/>
                    <a:pt x="1" y="60"/>
                  </a:cubicBezTo>
                  <a:cubicBezTo>
                    <a:pt x="0" y="59"/>
                    <a:pt x="0" y="57"/>
                    <a:pt x="0" y="56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4" y="45"/>
                    <a:pt x="46" y="45"/>
                    <a:pt x="47" y="45"/>
                  </a:cubicBezTo>
                  <a:cubicBezTo>
                    <a:pt x="49" y="45"/>
                    <a:pt x="50" y="45"/>
                    <a:pt x="52" y="44"/>
                  </a:cubicBezTo>
                  <a:cubicBezTo>
                    <a:pt x="66" y="34"/>
                    <a:pt x="66" y="34"/>
                    <a:pt x="66" y="34"/>
                  </a:cubicBezTo>
                  <a:cubicBezTo>
                    <a:pt x="95" y="56"/>
                    <a:pt x="95" y="56"/>
                    <a:pt x="95" y="56"/>
                  </a:cubicBezTo>
                  <a:cubicBezTo>
                    <a:pt x="95" y="57"/>
                    <a:pt x="94" y="59"/>
                    <a:pt x="93" y="60"/>
                  </a:cubicBezTo>
                  <a:close/>
                  <a:moveTo>
                    <a:pt x="0" y="11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0" y="50"/>
                    <a:pt x="0" y="50"/>
                    <a:pt x="0" y="50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04C54F04-CD37-A81C-2A8E-29AB4E7A2527}"/>
              </a:ext>
            </a:extLst>
          </p:cNvPr>
          <p:cNvGrpSpPr/>
          <p:nvPr/>
        </p:nvGrpSpPr>
        <p:grpSpPr>
          <a:xfrm>
            <a:off x="430846" y="2516089"/>
            <a:ext cx="647145" cy="647145"/>
            <a:chOff x="905631" y="2599733"/>
            <a:chExt cx="647145" cy="647145"/>
          </a:xfrm>
        </p:grpSpPr>
        <p:sp>
          <p:nvSpPr>
            <p:cNvPr id="6" name="Shape 990">
              <a:extLst>
                <a:ext uri="{FF2B5EF4-FFF2-40B4-BE49-F238E27FC236}">
                  <a16:creationId xmlns:a16="http://schemas.microsoft.com/office/drawing/2014/main" id="{AA3CFD20-2267-D043-FBDE-55965017E357}"/>
                </a:ext>
              </a:extLst>
            </p:cNvPr>
            <p:cNvSpPr/>
            <p:nvPr/>
          </p:nvSpPr>
          <p:spPr>
            <a:xfrm>
              <a:off x="905631" y="2599733"/>
              <a:ext cx="647145" cy="64714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AutoShape 14">
              <a:extLst>
                <a:ext uri="{FF2B5EF4-FFF2-40B4-BE49-F238E27FC236}">
                  <a16:creationId xmlns:a16="http://schemas.microsoft.com/office/drawing/2014/main" id="{31389189-C9E5-2D4B-5374-AEFED8269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834" y="2796887"/>
              <a:ext cx="248739" cy="252836"/>
            </a:xfrm>
            <a:custGeom>
              <a:avLst/>
              <a:gdLst>
                <a:gd name="T0" fmla="*/ 21097 w 21108"/>
                <a:gd name="T1" fmla="*/ 16603 h 20969"/>
                <a:gd name="T2" fmla="*/ 17551 w 21108"/>
                <a:gd name="T3" fmla="*/ 14553 h 20969"/>
                <a:gd name="T4" fmla="*/ 13359 w 21108"/>
                <a:gd name="T5" fmla="*/ 14553 h 20969"/>
                <a:gd name="T6" fmla="*/ 13359 w 21108"/>
                <a:gd name="T7" fmla="*/ 14553 h 20969"/>
                <a:gd name="T8" fmla="*/ 13198 w 21108"/>
                <a:gd name="T9" fmla="*/ 15026 h 20969"/>
                <a:gd name="T10" fmla="*/ 13198 w 21108"/>
                <a:gd name="T11" fmla="*/ 15026 h 20969"/>
                <a:gd name="T12" fmla="*/ 13198 w 21108"/>
                <a:gd name="T13" fmla="*/ 15026 h 20969"/>
                <a:gd name="T14" fmla="*/ 12876 w 21108"/>
                <a:gd name="T15" fmla="*/ 15972 h 20969"/>
                <a:gd name="T16" fmla="*/ 13037 w 21108"/>
                <a:gd name="T17" fmla="*/ 16288 h 20969"/>
                <a:gd name="T18" fmla="*/ 11264 w 21108"/>
                <a:gd name="T19" fmla="*/ 15657 h 20969"/>
                <a:gd name="T20" fmla="*/ 8362 w 21108"/>
                <a:gd name="T21" fmla="*/ 12819 h 20969"/>
                <a:gd name="T22" fmla="*/ 5300 w 21108"/>
                <a:gd name="T23" fmla="*/ 9508 h 20969"/>
                <a:gd name="T24" fmla="*/ 4816 w 21108"/>
                <a:gd name="T25" fmla="*/ 7774 h 20969"/>
                <a:gd name="T26" fmla="*/ 5461 w 21108"/>
                <a:gd name="T27" fmla="*/ 7616 h 20969"/>
                <a:gd name="T28" fmla="*/ 5783 w 21108"/>
                <a:gd name="T29" fmla="*/ 7459 h 20969"/>
                <a:gd name="T30" fmla="*/ 6589 w 21108"/>
                <a:gd name="T31" fmla="*/ 7143 h 20969"/>
                <a:gd name="T32" fmla="*/ 6589 w 21108"/>
                <a:gd name="T33" fmla="*/ 6986 h 20969"/>
                <a:gd name="T34" fmla="*/ 6589 w 21108"/>
                <a:gd name="T35" fmla="*/ 6986 h 20969"/>
                <a:gd name="T36" fmla="*/ 7234 w 21108"/>
                <a:gd name="T37" fmla="*/ 6828 h 20969"/>
                <a:gd name="T38" fmla="*/ 7234 w 21108"/>
                <a:gd name="T39" fmla="*/ 6828 h 20969"/>
                <a:gd name="T40" fmla="*/ 6267 w 21108"/>
                <a:gd name="T41" fmla="*/ 2886 h 20969"/>
                <a:gd name="T42" fmla="*/ 3365 w 21108"/>
                <a:gd name="T43" fmla="*/ 48 h 20969"/>
                <a:gd name="T44" fmla="*/ 3365 w 21108"/>
                <a:gd name="T45" fmla="*/ 48 h 20969"/>
                <a:gd name="T46" fmla="*/ 3365 w 21108"/>
                <a:gd name="T47" fmla="*/ 48 h 20969"/>
                <a:gd name="T48" fmla="*/ 3365 w 21108"/>
                <a:gd name="T49" fmla="*/ 48 h 20969"/>
                <a:gd name="T50" fmla="*/ 2882 w 21108"/>
                <a:gd name="T51" fmla="*/ 206 h 20969"/>
                <a:gd name="T52" fmla="*/ 2882 w 21108"/>
                <a:gd name="T53" fmla="*/ 206 h 20969"/>
                <a:gd name="T54" fmla="*/ 2721 w 21108"/>
                <a:gd name="T55" fmla="*/ 206 h 20969"/>
                <a:gd name="T56" fmla="*/ 1915 w 21108"/>
                <a:gd name="T57" fmla="*/ 679 h 20969"/>
                <a:gd name="T58" fmla="*/ 1754 w 21108"/>
                <a:gd name="T59" fmla="*/ 994 h 20969"/>
                <a:gd name="T60" fmla="*/ 142 w 21108"/>
                <a:gd name="T61" fmla="*/ 5251 h 20969"/>
                <a:gd name="T62" fmla="*/ 5945 w 21108"/>
                <a:gd name="T63" fmla="*/ 14869 h 20969"/>
                <a:gd name="T64" fmla="*/ 15777 w 21108"/>
                <a:gd name="T65" fmla="*/ 20860 h 20969"/>
                <a:gd name="T66" fmla="*/ 20452 w 21108"/>
                <a:gd name="T67" fmla="*/ 18337 h 20969"/>
                <a:gd name="T68" fmla="*/ 20613 w 21108"/>
                <a:gd name="T69" fmla="*/ 18180 h 20969"/>
                <a:gd name="T70" fmla="*/ 20774 w 21108"/>
                <a:gd name="T71" fmla="*/ 17234 h 20969"/>
                <a:gd name="T72" fmla="*/ 20936 w 21108"/>
                <a:gd name="T73" fmla="*/ 17234 h 20969"/>
                <a:gd name="T74" fmla="*/ 20774 w 21108"/>
                <a:gd name="T75" fmla="*/ 17234 h 20969"/>
                <a:gd name="T76" fmla="*/ 21097 w 21108"/>
                <a:gd name="T77" fmla="*/ 16603 h 20969"/>
                <a:gd name="T78" fmla="*/ 21097 w 21108"/>
                <a:gd name="T79" fmla="*/ 16603 h 20969"/>
                <a:gd name="T80" fmla="*/ 3527 w 21108"/>
                <a:gd name="T81" fmla="*/ 364 h 20969"/>
                <a:gd name="T82" fmla="*/ 5945 w 21108"/>
                <a:gd name="T83" fmla="*/ 3044 h 20969"/>
                <a:gd name="T84" fmla="*/ 6912 w 21108"/>
                <a:gd name="T85" fmla="*/ 6355 h 20969"/>
                <a:gd name="T86" fmla="*/ 4655 w 21108"/>
                <a:gd name="T87" fmla="*/ 3675 h 20969"/>
                <a:gd name="T88" fmla="*/ 3527 w 21108"/>
                <a:gd name="T89" fmla="*/ 364 h 20969"/>
                <a:gd name="T90" fmla="*/ 17067 w 21108"/>
                <a:gd name="T91" fmla="*/ 16288 h 20969"/>
                <a:gd name="T92" fmla="*/ 13843 w 21108"/>
                <a:gd name="T93" fmla="*/ 14553 h 20969"/>
                <a:gd name="T94" fmla="*/ 17389 w 21108"/>
                <a:gd name="T95" fmla="*/ 14869 h 20969"/>
                <a:gd name="T96" fmla="*/ 20613 w 21108"/>
                <a:gd name="T97" fmla="*/ 16603 h 20969"/>
                <a:gd name="T98" fmla="*/ 17067 w 21108"/>
                <a:gd name="T99" fmla="*/ 16288 h 20969"/>
                <a:gd name="T100" fmla="*/ 17067 w 21108"/>
                <a:gd name="T101" fmla="*/ 16288 h 20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1108" h="20969">
                  <a:moveTo>
                    <a:pt x="21097" y="16603"/>
                  </a:moveTo>
                  <a:cubicBezTo>
                    <a:pt x="21258" y="16130"/>
                    <a:pt x="19646" y="15026"/>
                    <a:pt x="17551" y="14553"/>
                  </a:cubicBezTo>
                  <a:cubicBezTo>
                    <a:pt x="15455" y="13923"/>
                    <a:pt x="13521" y="13923"/>
                    <a:pt x="13359" y="14553"/>
                  </a:cubicBezTo>
                  <a:cubicBezTo>
                    <a:pt x="13359" y="14553"/>
                    <a:pt x="13359" y="14553"/>
                    <a:pt x="13359" y="14553"/>
                  </a:cubicBezTo>
                  <a:cubicBezTo>
                    <a:pt x="13359" y="14553"/>
                    <a:pt x="13359" y="14711"/>
                    <a:pt x="13198" y="15026"/>
                  </a:cubicBezTo>
                  <a:cubicBezTo>
                    <a:pt x="13198" y="15026"/>
                    <a:pt x="13198" y="15026"/>
                    <a:pt x="13198" y="15026"/>
                  </a:cubicBezTo>
                  <a:cubicBezTo>
                    <a:pt x="13198" y="15026"/>
                    <a:pt x="13198" y="15026"/>
                    <a:pt x="13198" y="15026"/>
                  </a:cubicBezTo>
                  <a:cubicBezTo>
                    <a:pt x="13198" y="15342"/>
                    <a:pt x="13037" y="15815"/>
                    <a:pt x="12876" y="15972"/>
                  </a:cubicBezTo>
                  <a:cubicBezTo>
                    <a:pt x="12876" y="16130"/>
                    <a:pt x="12876" y="16130"/>
                    <a:pt x="13037" y="16288"/>
                  </a:cubicBezTo>
                  <a:cubicBezTo>
                    <a:pt x="12392" y="16288"/>
                    <a:pt x="11748" y="16130"/>
                    <a:pt x="11264" y="15657"/>
                  </a:cubicBezTo>
                  <a:cubicBezTo>
                    <a:pt x="8362" y="12819"/>
                    <a:pt x="8362" y="12819"/>
                    <a:pt x="8362" y="12819"/>
                  </a:cubicBezTo>
                  <a:cubicBezTo>
                    <a:pt x="5300" y="9508"/>
                    <a:pt x="5300" y="9508"/>
                    <a:pt x="5300" y="9508"/>
                  </a:cubicBezTo>
                  <a:cubicBezTo>
                    <a:pt x="4816" y="9035"/>
                    <a:pt x="4655" y="8405"/>
                    <a:pt x="4816" y="7774"/>
                  </a:cubicBezTo>
                  <a:cubicBezTo>
                    <a:pt x="4977" y="7616"/>
                    <a:pt x="5300" y="7616"/>
                    <a:pt x="5461" y="7616"/>
                  </a:cubicBezTo>
                  <a:cubicBezTo>
                    <a:pt x="5622" y="7616"/>
                    <a:pt x="5783" y="7616"/>
                    <a:pt x="5783" y="7459"/>
                  </a:cubicBezTo>
                  <a:cubicBezTo>
                    <a:pt x="5945" y="7459"/>
                    <a:pt x="6428" y="7301"/>
                    <a:pt x="6589" y="7143"/>
                  </a:cubicBezTo>
                  <a:cubicBezTo>
                    <a:pt x="6589" y="7143"/>
                    <a:pt x="6589" y="7143"/>
                    <a:pt x="6589" y="6986"/>
                  </a:cubicBezTo>
                  <a:cubicBezTo>
                    <a:pt x="6589" y="6986"/>
                    <a:pt x="6589" y="6986"/>
                    <a:pt x="6589" y="6986"/>
                  </a:cubicBezTo>
                  <a:cubicBezTo>
                    <a:pt x="6912" y="6986"/>
                    <a:pt x="7234" y="6828"/>
                    <a:pt x="7234" y="6828"/>
                  </a:cubicBezTo>
                  <a:cubicBezTo>
                    <a:pt x="7234" y="6828"/>
                    <a:pt x="7234" y="6828"/>
                    <a:pt x="7234" y="6828"/>
                  </a:cubicBezTo>
                  <a:cubicBezTo>
                    <a:pt x="7718" y="6513"/>
                    <a:pt x="7395" y="4778"/>
                    <a:pt x="6267" y="2886"/>
                  </a:cubicBezTo>
                  <a:cubicBezTo>
                    <a:pt x="5139" y="994"/>
                    <a:pt x="3849" y="-267"/>
                    <a:pt x="3365" y="48"/>
                  </a:cubicBezTo>
                  <a:cubicBezTo>
                    <a:pt x="3365" y="48"/>
                    <a:pt x="3365" y="48"/>
                    <a:pt x="3365" y="48"/>
                  </a:cubicBezTo>
                  <a:cubicBezTo>
                    <a:pt x="3365" y="48"/>
                    <a:pt x="3365" y="48"/>
                    <a:pt x="3365" y="48"/>
                  </a:cubicBezTo>
                  <a:cubicBezTo>
                    <a:pt x="3365" y="48"/>
                    <a:pt x="3365" y="48"/>
                    <a:pt x="3365" y="48"/>
                  </a:cubicBezTo>
                  <a:cubicBezTo>
                    <a:pt x="3365" y="48"/>
                    <a:pt x="3043" y="48"/>
                    <a:pt x="2882" y="206"/>
                  </a:cubicBezTo>
                  <a:cubicBezTo>
                    <a:pt x="2882" y="206"/>
                    <a:pt x="2882" y="206"/>
                    <a:pt x="2882" y="206"/>
                  </a:cubicBezTo>
                  <a:cubicBezTo>
                    <a:pt x="2882" y="206"/>
                    <a:pt x="2882" y="206"/>
                    <a:pt x="2721" y="206"/>
                  </a:cubicBezTo>
                  <a:cubicBezTo>
                    <a:pt x="2559" y="364"/>
                    <a:pt x="2076" y="679"/>
                    <a:pt x="1915" y="679"/>
                  </a:cubicBezTo>
                  <a:cubicBezTo>
                    <a:pt x="1915" y="837"/>
                    <a:pt x="1754" y="837"/>
                    <a:pt x="1754" y="994"/>
                  </a:cubicBezTo>
                  <a:cubicBezTo>
                    <a:pt x="464" y="2098"/>
                    <a:pt x="-342" y="3832"/>
                    <a:pt x="142" y="5251"/>
                  </a:cubicBezTo>
                  <a:cubicBezTo>
                    <a:pt x="303" y="7932"/>
                    <a:pt x="2559" y="11400"/>
                    <a:pt x="5945" y="14869"/>
                  </a:cubicBezTo>
                  <a:cubicBezTo>
                    <a:pt x="9330" y="18337"/>
                    <a:pt x="13037" y="20545"/>
                    <a:pt x="15777" y="20860"/>
                  </a:cubicBezTo>
                  <a:cubicBezTo>
                    <a:pt x="17551" y="21333"/>
                    <a:pt x="19324" y="20229"/>
                    <a:pt x="20452" y="18337"/>
                  </a:cubicBezTo>
                  <a:cubicBezTo>
                    <a:pt x="20452" y="18337"/>
                    <a:pt x="20613" y="18180"/>
                    <a:pt x="20613" y="18180"/>
                  </a:cubicBezTo>
                  <a:cubicBezTo>
                    <a:pt x="20613" y="18022"/>
                    <a:pt x="20774" y="17549"/>
                    <a:pt x="20774" y="17234"/>
                  </a:cubicBezTo>
                  <a:cubicBezTo>
                    <a:pt x="20774" y="17234"/>
                    <a:pt x="20774" y="17234"/>
                    <a:pt x="20936" y="17234"/>
                  </a:cubicBezTo>
                  <a:cubicBezTo>
                    <a:pt x="20774" y="17234"/>
                    <a:pt x="20774" y="17234"/>
                    <a:pt x="20774" y="17234"/>
                  </a:cubicBezTo>
                  <a:cubicBezTo>
                    <a:pt x="20936" y="16918"/>
                    <a:pt x="20936" y="16761"/>
                    <a:pt x="21097" y="16603"/>
                  </a:cubicBezTo>
                  <a:cubicBezTo>
                    <a:pt x="21097" y="16603"/>
                    <a:pt x="21097" y="16603"/>
                    <a:pt x="21097" y="16603"/>
                  </a:cubicBezTo>
                  <a:close/>
                  <a:moveTo>
                    <a:pt x="3527" y="364"/>
                  </a:moveTo>
                  <a:cubicBezTo>
                    <a:pt x="3849" y="364"/>
                    <a:pt x="4816" y="1152"/>
                    <a:pt x="5945" y="3044"/>
                  </a:cubicBezTo>
                  <a:cubicBezTo>
                    <a:pt x="7073" y="4936"/>
                    <a:pt x="7073" y="6197"/>
                    <a:pt x="6912" y="6355"/>
                  </a:cubicBezTo>
                  <a:cubicBezTo>
                    <a:pt x="6751" y="6355"/>
                    <a:pt x="5622" y="5567"/>
                    <a:pt x="4655" y="3675"/>
                  </a:cubicBezTo>
                  <a:cubicBezTo>
                    <a:pt x="3527" y="1783"/>
                    <a:pt x="3365" y="521"/>
                    <a:pt x="3527" y="364"/>
                  </a:cubicBezTo>
                  <a:close/>
                  <a:moveTo>
                    <a:pt x="17067" y="16288"/>
                  </a:moveTo>
                  <a:cubicBezTo>
                    <a:pt x="14810" y="15657"/>
                    <a:pt x="13843" y="14869"/>
                    <a:pt x="13843" y="14553"/>
                  </a:cubicBezTo>
                  <a:cubicBezTo>
                    <a:pt x="14004" y="14396"/>
                    <a:pt x="15294" y="14238"/>
                    <a:pt x="17389" y="14869"/>
                  </a:cubicBezTo>
                  <a:cubicBezTo>
                    <a:pt x="19485" y="15499"/>
                    <a:pt x="20613" y="16288"/>
                    <a:pt x="20613" y="16603"/>
                  </a:cubicBezTo>
                  <a:cubicBezTo>
                    <a:pt x="20452" y="16761"/>
                    <a:pt x="19001" y="16918"/>
                    <a:pt x="17067" y="16288"/>
                  </a:cubicBezTo>
                  <a:close/>
                  <a:moveTo>
                    <a:pt x="17067" y="16288"/>
                  </a:move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05DAD355-3364-2459-1E96-9B0D333CF686}"/>
              </a:ext>
            </a:extLst>
          </p:cNvPr>
          <p:cNvGrpSpPr/>
          <p:nvPr/>
        </p:nvGrpSpPr>
        <p:grpSpPr>
          <a:xfrm>
            <a:off x="430846" y="3927034"/>
            <a:ext cx="647145" cy="647145"/>
            <a:chOff x="905631" y="3694908"/>
            <a:chExt cx="647145" cy="647145"/>
          </a:xfrm>
        </p:grpSpPr>
        <p:sp>
          <p:nvSpPr>
            <p:cNvPr id="7" name="Shape 998">
              <a:extLst>
                <a:ext uri="{FF2B5EF4-FFF2-40B4-BE49-F238E27FC236}">
                  <a16:creationId xmlns:a16="http://schemas.microsoft.com/office/drawing/2014/main" id="{C85202DF-77CF-F473-0C94-44821CFA95AC}"/>
                </a:ext>
              </a:extLst>
            </p:cNvPr>
            <p:cNvSpPr/>
            <p:nvPr/>
          </p:nvSpPr>
          <p:spPr>
            <a:xfrm>
              <a:off x="905631" y="3694908"/>
              <a:ext cx="647145" cy="64714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Freeform 32">
              <a:extLst>
                <a:ext uri="{FF2B5EF4-FFF2-40B4-BE49-F238E27FC236}">
                  <a16:creationId xmlns:a16="http://schemas.microsoft.com/office/drawing/2014/main" id="{2FA19C22-E75C-9866-E5FA-6E53F01DD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993" y="3885073"/>
              <a:ext cx="124420" cy="266815"/>
            </a:xfrm>
            <a:custGeom>
              <a:avLst/>
              <a:gdLst>
                <a:gd name="T0" fmla="*/ 209 w 21600"/>
                <a:gd name="T1" fmla="*/ 144 h 21600"/>
                <a:gd name="T2" fmla="*/ 139 w 21600"/>
                <a:gd name="T3" fmla="*/ 144 h 21600"/>
                <a:gd name="T4" fmla="*/ 139 w 21600"/>
                <a:gd name="T5" fmla="*/ 98 h 21600"/>
                <a:gd name="T6" fmla="*/ 158 w 21600"/>
                <a:gd name="T7" fmla="*/ 77 h 21600"/>
                <a:gd name="T8" fmla="*/ 209 w 21600"/>
                <a:gd name="T9" fmla="*/ 77 h 21600"/>
                <a:gd name="T10" fmla="*/ 209 w 21600"/>
                <a:gd name="T11" fmla="*/ 0 h 21600"/>
                <a:gd name="T12" fmla="*/ 139 w 21600"/>
                <a:gd name="T13" fmla="*/ 0 h 21600"/>
                <a:gd name="T14" fmla="*/ 46 w 21600"/>
                <a:gd name="T15" fmla="*/ 93 h 21600"/>
                <a:gd name="T16" fmla="*/ 46 w 21600"/>
                <a:gd name="T17" fmla="*/ 144 h 21600"/>
                <a:gd name="T18" fmla="*/ 0 w 21600"/>
                <a:gd name="T19" fmla="*/ 144 h 21600"/>
                <a:gd name="T20" fmla="*/ 0 w 21600"/>
                <a:gd name="T21" fmla="*/ 223 h 21600"/>
                <a:gd name="T22" fmla="*/ 46 w 21600"/>
                <a:gd name="T23" fmla="*/ 223 h 21600"/>
                <a:gd name="T24" fmla="*/ 46 w 21600"/>
                <a:gd name="T25" fmla="*/ 448 h 21600"/>
                <a:gd name="T26" fmla="*/ 139 w 21600"/>
                <a:gd name="T27" fmla="*/ 448 h 21600"/>
                <a:gd name="T28" fmla="*/ 139 w 21600"/>
                <a:gd name="T29" fmla="*/ 223 h 21600"/>
                <a:gd name="T30" fmla="*/ 202 w 21600"/>
                <a:gd name="T31" fmla="*/ 223 h 21600"/>
                <a:gd name="T32" fmla="*/ 209 w 21600"/>
                <a:gd name="T33" fmla="*/ 144 h 21600"/>
                <a:gd name="T34" fmla="*/ 209 w 21600"/>
                <a:gd name="T35" fmla="*/ 144 h 2160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1600" h="21600">
                  <a:moveTo>
                    <a:pt x="21600" y="6939"/>
                  </a:moveTo>
                  <a:cubicBezTo>
                    <a:pt x="14400" y="6939"/>
                    <a:pt x="14400" y="6939"/>
                    <a:pt x="14400" y="6939"/>
                  </a:cubicBezTo>
                  <a:cubicBezTo>
                    <a:pt x="14400" y="4701"/>
                    <a:pt x="14400" y="4701"/>
                    <a:pt x="14400" y="4701"/>
                  </a:cubicBezTo>
                  <a:cubicBezTo>
                    <a:pt x="14400" y="3917"/>
                    <a:pt x="15600" y="3693"/>
                    <a:pt x="16320" y="3693"/>
                  </a:cubicBezTo>
                  <a:cubicBezTo>
                    <a:pt x="17280" y="3693"/>
                    <a:pt x="21600" y="3693"/>
                    <a:pt x="21600" y="3693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14400" y="0"/>
                    <a:pt x="14400" y="0"/>
                    <a:pt x="14400" y="0"/>
                  </a:cubicBezTo>
                  <a:cubicBezTo>
                    <a:pt x="6480" y="0"/>
                    <a:pt x="4800" y="2686"/>
                    <a:pt x="4800" y="4477"/>
                  </a:cubicBezTo>
                  <a:cubicBezTo>
                    <a:pt x="4800" y="6939"/>
                    <a:pt x="4800" y="6939"/>
                    <a:pt x="4800" y="6939"/>
                  </a:cubicBezTo>
                  <a:cubicBezTo>
                    <a:pt x="0" y="6939"/>
                    <a:pt x="0" y="6939"/>
                    <a:pt x="0" y="6939"/>
                  </a:cubicBezTo>
                  <a:cubicBezTo>
                    <a:pt x="0" y="10744"/>
                    <a:pt x="0" y="10744"/>
                    <a:pt x="0" y="10744"/>
                  </a:cubicBezTo>
                  <a:cubicBezTo>
                    <a:pt x="4800" y="10744"/>
                    <a:pt x="4800" y="10744"/>
                    <a:pt x="4800" y="10744"/>
                  </a:cubicBezTo>
                  <a:cubicBezTo>
                    <a:pt x="4800" y="15668"/>
                    <a:pt x="4800" y="21600"/>
                    <a:pt x="4800" y="21600"/>
                  </a:cubicBezTo>
                  <a:cubicBezTo>
                    <a:pt x="14400" y="21600"/>
                    <a:pt x="14400" y="21600"/>
                    <a:pt x="14400" y="21600"/>
                  </a:cubicBezTo>
                  <a:cubicBezTo>
                    <a:pt x="14400" y="21600"/>
                    <a:pt x="14400" y="15556"/>
                    <a:pt x="14400" y="10744"/>
                  </a:cubicBezTo>
                  <a:cubicBezTo>
                    <a:pt x="20880" y="10744"/>
                    <a:pt x="20880" y="10744"/>
                    <a:pt x="20880" y="10744"/>
                  </a:cubicBezTo>
                  <a:lnTo>
                    <a:pt x="21600" y="6939"/>
                  </a:lnTo>
                  <a:close/>
                  <a:moveTo>
                    <a:pt x="21600" y="6939"/>
                  </a:move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D7766AB4-93EF-B3FC-40DA-0C51C3D66129}"/>
              </a:ext>
            </a:extLst>
          </p:cNvPr>
          <p:cNvGrpSpPr/>
          <p:nvPr/>
        </p:nvGrpSpPr>
        <p:grpSpPr>
          <a:xfrm>
            <a:off x="430846" y="5048027"/>
            <a:ext cx="647145" cy="647145"/>
            <a:chOff x="905631" y="4692860"/>
            <a:chExt cx="647145" cy="647145"/>
          </a:xfrm>
        </p:grpSpPr>
        <p:sp>
          <p:nvSpPr>
            <p:cNvPr id="8" name="Shape 1001">
              <a:extLst>
                <a:ext uri="{FF2B5EF4-FFF2-40B4-BE49-F238E27FC236}">
                  <a16:creationId xmlns:a16="http://schemas.microsoft.com/office/drawing/2014/main" id="{397207B0-29D0-3C19-6010-29F0DDA59538}"/>
                </a:ext>
              </a:extLst>
            </p:cNvPr>
            <p:cNvSpPr/>
            <p:nvPr/>
          </p:nvSpPr>
          <p:spPr>
            <a:xfrm>
              <a:off x="905631" y="4692860"/>
              <a:ext cx="647145" cy="64714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6" name="Picture 6">
              <a:extLst>
                <a:ext uri="{FF2B5EF4-FFF2-40B4-BE49-F238E27FC236}">
                  <a16:creationId xmlns:a16="http://schemas.microsoft.com/office/drawing/2014/main" id="{8BD74C81-B0DE-DE98-E0E7-069997DFD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2562" y="4858524"/>
              <a:ext cx="360932" cy="315816"/>
            </a:xfrm>
            <a:prstGeom prst="rect">
              <a:avLst/>
            </a:prstGeom>
          </p:spPr>
        </p:pic>
      </p:grpSp>
      <p:pic>
        <p:nvPicPr>
          <p:cNvPr id="17" name="図 16">
            <a:extLst>
              <a:ext uri="{FF2B5EF4-FFF2-40B4-BE49-F238E27FC236}">
                <a16:creationId xmlns:a16="http://schemas.microsoft.com/office/drawing/2014/main" id="{24F6F256-27EC-D6D7-7F6B-2946360A0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823" y="3557670"/>
            <a:ext cx="6910394" cy="3245590"/>
          </a:xfrm>
          <a:prstGeom prst="rect">
            <a:avLst/>
          </a:prstGeom>
        </p:spPr>
      </p:pic>
      <p:sp>
        <p:nvSpPr>
          <p:cNvPr id="21" name="TextBox 60">
            <a:extLst>
              <a:ext uri="{FF2B5EF4-FFF2-40B4-BE49-F238E27FC236}">
                <a16:creationId xmlns:a16="http://schemas.microsoft.com/office/drawing/2014/main" id="{7EFCDF27-2FA1-CC8A-3ACA-E06C09755B17}"/>
              </a:ext>
            </a:extLst>
          </p:cNvPr>
          <p:cNvSpPr txBox="1"/>
          <p:nvPr/>
        </p:nvSpPr>
        <p:spPr>
          <a:xfrm>
            <a:off x="6177903" y="1487999"/>
            <a:ext cx="5385611" cy="5012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No.1 MD Tower 16Fl, Unit C1, Soi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Bangna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-Trad 25,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Debaratna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 Rd.,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Khwaeng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 Bang Na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Nuea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, Khet Bang Na, Bangkok 10260 Thailand.</a:t>
            </a:r>
          </a:p>
        </p:txBody>
      </p:sp>
      <p:sp>
        <p:nvSpPr>
          <p:cNvPr id="23" name="四角形: 対角を切り取る 22">
            <a:extLst>
              <a:ext uri="{FF2B5EF4-FFF2-40B4-BE49-F238E27FC236}">
                <a16:creationId xmlns:a16="http://schemas.microsoft.com/office/drawing/2014/main" id="{FF784049-C4C5-7C1F-68AD-49B286193974}"/>
              </a:ext>
            </a:extLst>
          </p:cNvPr>
          <p:cNvSpPr/>
          <p:nvPr/>
        </p:nvSpPr>
        <p:spPr>
          <a:xfrm flipH="1">
            <a:off x="5205185" y="1623139"/>
            <a:ext cx="795118" cy="230955"/>
          </a:xfrm>
          <a:prstGeom prst="snip2DiagRect">
            <a:avLst/>
          </a:prstGeom>
          <a:gradFill flip="none" rotWithShape="1">
            <a:gsLst>
              <a:gs pos="0">
                <a:srgbClr val="00AAE8"/>
              </a:gs>
              <a:gs pos="53100">
                <a:srgbClr val="0055A0"/>
              </a:gs>
              <a:gs pos="100000">
                <a:srgbClr val="0055A0"/>
              </a:gs>
            </a:gsLst>
            <a:lin ang="8100000" scaled="1"/>
            <a:tileRect/>
          </a:gradFill>
          <a:ln>
            <a:noFill/>
          </a:ln>
          <a:effectLst>
            <a:outerShdw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/>
                </a:solidFill>
              </a:rPr>
              <a:t>Address</a:t>
            </a:r>
          </a:p>
        </p:txBody>
      </p:sp>
      <p:sp>
        <p:nvSpPr>
          <p:cNvPr id="29" name="TextBox 60">
            <a:extLst>
              <a:ext uri="{FF2B5EF4-FFF2-40B4-BE49-F238E27FC236}">
                <a16:creationId xmlns:a16="http://schemas.microsoft.com/office/drawing/2014/main" id="{080D3604-94A6-E2A1-D545-ABF847B8A13C}"/>
              </a:ext>
            </a:extLst>
          </p:cNvPr>
          <p:cNvSpPr txBox="1"/>
          <p:nvPr/>
        </p:nvSpPr>
        <p:spPr>
          <a:xfrm>
            <a:off x="5209999" y="2066391"/>
            <a:ext cx="5385611" cy="31200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b="1" dirty="0">
                <a:solidFill>
                  <a:srgbClr val="EF7D00"/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TOMAS TECH CO., LTD. (Factory)</a:t>
            </a:r>
          </a:p>
        </p:txBody>
      </p:sp>
      <p:sp>
        <p:nvSpPr>
          <p:cNvPr id="30" name="TextBox 60">
            <a:extLst>
              <a:ext uri="{FF2B5EF4-FFF2-40B4-BE49-F238E27FC236}">
                <a16:creationId xmlns:a16="http://schemas.microsoft.com/office/drawing/2014/main" id="{F76711A0-3C7F-DE84-7512-E39714DD4171}"/>
              </a:ext>
            </a:extLst>
          </p:cNvPr>
          <p:cNvSpPr txBox="1"/>
          <p:nvPr/>
        </p:nvSpPr>
        <p:spPr>
          <a:xfrm>
            <a:off x="6177903" y="2302127"/>
            <a:ext cx="5385611" cy="5012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No. 11, Soi On Nut 65, Intersection 9,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Khwaeng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Prawet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,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Prawet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, Bangkok 10250 Thailand.</a:t>
            </a:r>
          </a:p>
        </p:txBody>
      </p:sp>
      <p:sp>
        <p:nvSpPr>
          <p:cNvPr id="31" name="四角形: 対角を切り取る 30">
            <a:extLst>
              <a:ext uri="{FF2B5EF4-FFF2-40B4-BE49-F238E27FC236}">
                <a16:creationId xmlns:a16="http://schemas.microsoft.com/office/drawing/2014/main" id="{D0BFB636-29D0-3651-120A-02587C9E3E18}"/>
              </a:ext>
            </a:extLst>
          </p:cNvPr>
          <p:cNvSpPr/>
          <p:nvPr/>
        </p:nvSpPr>
        <p:spPr>
          <a:xfrm flipH="1">
            <a:off x="5205185" y="2437267"/>
            <a:ext cx="795118" cy="230955"/>
          </a:xfrm>
          <a:prstGeom prst="snip2DiagRect">
            <a:avLst/>
          </a:prstGeom>
          <a:gradFill flip="none" rotWithShape="1">
            <a:gsLst>
              <a:gs pos="0">
                <a:srgbClr val="F7B14D">
                  <a:lumMod val="87000"/>
                  <a:lumOff val="13000"/>
                </a:srgbClr>
              </a:gs>
              <a:gs pos="53100">
                <a:srgbClr val="EE7700"/>
              </a:gs>
              <a:gs pos="100000">
                <a:srgbClr val="EF8822"/>
              </a:gs>
            </a:gsLst>
            <a:lin ang="8100000" scaled="1"/>
            <a:tileRect/>
          </a:gradFill>
          <a:ln>
            <a:noFill/>
          </a:ln>
          <a:effectLst>
            <a:outerShdw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/>
                </a:solidFill>
              </a:rPr>
              <a:t>Address</a:t>
            </a:r>
          </a:p>
        </p:txBody>
      </p:sp>
      <p:sp>
        <p:nvSpPr>
          <p:cNvPr id="34" name="TextBox 60">
            <a:extLst>
              <a:ext uri="{FF2B5EF4-FFF2-40B4-BE49-F238E27FC236}">
                <a16:creationId xmlns:a16="http://schemas.microsoft.com/office/drawing/2014/main" id="{6D3E0BDA-ACB6-2348-4F15-8B760C54CDC8}"/>
              </a:ext>
            </a:extLst>
          </p:cNvPr>
          <p:cNvSpPr txBox="1"/>
          <p:nvPr/>
        </p:nvSpPr>
        <p:spPr>
          <a:xfrm>
            <a:off x="5173917" y="2853246"/>
            <a:ext cx="5385611" cy="31200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b="1" dirty="0">
                <a:solidFill>
                  <a:srgbClr val="009C7C"/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TOMAS TECH VIETNAM COMPANY LIMITED</a:t>
            </a:r>
          </a:p>
        </p:txBody>
      </p:sp>
      <p:sp>
        <p:nvSpPr>
          <p:cNvPr id="35" name="TextBox 60">
            <a:extLst>
              <a:ext uri="{FF2B5EF4-FFF2-40B4-BE49-F238E27FC236}">
                <a16:creationId xmlns:a16="http://schemas.microsoft.com/office/drawing/2014/main" id="{BC179985-3B91-13F9-129A-8DD400D3B221}"/>
              </a:ext>
            </a:extLst>
          </p:cNvPr>
          <p:cNvSpPr txBox="1"/>
          <p:nvPr/>
        </p:nvSpPr>
        <p:spPr>
          <a:xfrm>
            <a:off x="6141821" y="3088982"/>
            <a:ext cx="5385611" cy="5012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6th Floor,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Sacombank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Fira Sans SemiBold Italic" panose="00000700000000000000" pitchFamily="50" charset="0"/>
                <a:cs typeface="Clear Sans Light" panose="020B0303030202020304" pitchFamily="34" charset="0"/>
                <a:sym typeface="Open Sans Light" charset="0"/>
              </a:rPr>
              <a:t> Building, No. 35 Luong Dinh Cua, Kim Lien Ward, Hanoi City, Vietnam.</a:t>
            </a:r>
          </a:p>
        </p:txBody>
      </p:sp>
      <p:sp>
        <p:nvSpPr>
          <p:cNvPr id="36" name="四角形: 対角を切り取る 35">
            <a:extLst>
              <a:ext uri="{FF2B5EF4-FFF2-40B4-BE49-F238E27FC236}">
                <a16:creationId xmlns:a16="http://schemas.microsoft.com/office/drawing/2014/main" id="{1FB3A323-B00A-8D8D-D9FC-D5084B82D5E0}"/>
              </a:ext>
            </a:extLst>
          </p:cNvPr>
          <p:cNvSpPr/>
          <p:nvPr/>
        </p:nvSpPr>
        <p:spPr>
          <a:xfrm flipH="1">
            <a:off x="5169103" y="3224122"/>
            <a:ext cx="795118" cy="230955"/>
          </a:xfrm>
          <a:prstGeom prst="snip2DiagRect">
            <a:avLst/>
          </a:prstGeom>
          <a:gradFill flip="none" rotWithShape="1">
            <a:gsLst>
              <a:gs pos="0">
                <a:srgbClr val="00B1A9">
                  <a:lumMod val="90000"/>
                  <a:lumOff val="10000"/>
                </a:srgbClr>
              </a:gs>
              <a:gs pos="53100">
                <a:srgbClr val="00B1A9">
                  <a:alpha val="98000"/>
                </a:srgbClr>
              </a:gs>
              <a:gs pos="100000">
                <a:srgbClr val="009C7C"/>
              </a:gs>
            </a:gsLst>
            <a:lin ang="8100000" scaled="1"/>
            <a:tileRect/>
          </a:gradFill>
          <a:ln>
            <a:noFill/>
          </a:ln>
          <a:effectLst>
            <a:outerShdw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/>
                </a:solidFill>
              </a:rPr>
              <a:t>Address</a:t>
            </a:r>
          </a:p>
        </p:txBody>
      </p:sp>
    </p:spTree>
    <p:extLst>
      <p:ext uri="{BB962C8B-B14F-4D97-AF65-F5344CB8AC3E}">
        <p14:creationId xmlns:p14="http://schemas.microsoft.com/office/powerpoint/2010/main" val="2629294857"/>
      </p:ext>
    </p:extLst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TOMAS TECH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5A0"/>
      </a:accent1>
      <a:accent2>
        <a:srgbClr val="00AAE8"/>
      </a:accent2>
      <a:accent3>
        <a:srgbClr val="FFD900"/>
      </a:accent3>
      <a:accent4>
        <a:srgbClr val="9B1D20"/>
      </a:accent4>
      <a:accent5>
        <a:srgbClr val="F1E3F3"/>
      </a:accent5>
      <a:accent6>
        <a:srgbClr val="6DA34D"/>
      </a:accent6>
      <a:hlink>
        <a:srgbClr val="0563C1"/>
      </a:hlink>
      <a:folHlink>
        <a:srgbClr val="954F72"/>
      </a:folHlink>
    </a:clrScheme>
    <a:fontScheme name="TOMA TECH">
      <a:majorFont>
        <a:latin typeface="Segoe UI"/>
        <a:ea typeface="BIZ UDPゴシック"/>
        <a:cs typeface=""/>
      </a:majorFont>
      <a:minorFont>
        <a:latin typeface="Segoe UI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00AAE8"/>
            </a:gs>
            <a:gs pos="53100">
              <a:srgbClr val="0055A0"/>
            </a:gs>
            <a:gs pos="100000">
              <a:srgbClr val="0055A0"/>
            </a:gs>
          </a:gsLst>
          <a:lin ang="8100000" scaled="1"/>
          <a:tileRect/>
        </a:gradFill>
        <a:ln>
          <a:noFill/>
        </a:ln>
        <a:effectLst>
          <a:outerShdw dist="38100" dir="2700000" algn="tl" rotWithShape="0">
            <a:prstClr val="black">
              <a:alpha val="20000"/>
            </a:prstClr>
          </a:outerShdw>
        </a:effectLst>
      </a:spPr>
      <a:bodyPr wrap="square" bIns="288000" rtlCol="0" anchor="ctr">
        <a:noAutofit/>
      </a:bodyPr>
      <a:lstStyle>
        <a:defPPr algn="ctr">
          <a:lnSpc>
            <a:spcPct val="110000"/>
          </a:lnSpc>
          <a:spcAft>
            <a:spcPts val="600"/>
          </a:spcAft>
          <a:defRPr kumimoji="1" sz="19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21249</TotalTime>
  <Words>909</Words>
  <Application>Microsoft Office PowerPoint</Application>
  <PresentationFormat>Widescreen</PresentationFormat>
  <Paragraphs>85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游ゴシック</vt:lpstr>
      <vt:lpstr>Arial</vt:lpstr>
      <vt:lpstr>BIZ UDPゴシック</vt:lpstr>
      <vt:lpstr>Fira Sans SemiBold Italic</vt:lpstr>
      <vt:lpstr>Segoe UI</vt:lpstr>
      <vt:lpstr>Wingdings 2</vt:lpstr>
      <vt:lpstr>デザインの設定</vt:lpstr>
      <vt:lpstr>Predicting component failure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 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nozaki ryo</dc:creator>
  <cp:lastModifiedBy>Jirameth Wannasiwaporn</cp:lastModifiedBy>
  <cp:revision>239</cp:revision>
  <cp:lastPrinted>2021-02-06T02:47:49Z</cp:lastPrinted>
  <dcterms:created xsi:type="dcterms:W3CDTF">2018-07-06T03:47:07Z</dcterms:created>
  <dcterms:modified xsi:type="dcterms:W3CDTF">2026-09-15T03:48:02Z</dcterms:modified>
</cp:coreProperties>
</file>